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8A8AAA"/>
                </a:solidFill>
                <a:latin typeface="Arial"/>
              </a:defRPr>
            </a:pPr>
            <a:r>
              <a:rPr sz="1100" b="0" i="0" u="none" strike="noStrike">
                <a:solidFill>
                  <a:srgbClr val="8A8AAA"/>
                </a:solidFill>
                <a:latin typeface="Arial"/>
              </a:rPr>
              <a:t>% of Conditions More Misdiagnosed in Women</a:t>
            </a:r>
          </a:p>
        </c:rich>
      </c:tx>
      <c:layout/>
      <c:overlay val="0"/>
    </c:title>
    <c:autoTitleDeleted val="0"/>
    <c:plotArea>
      <c:layout/>
      <c:barChart>
        <c:barDir val="col"/>
        <c:grouping val="clustered"/>
        <c:varyColors val="0"/>
        <c:ser>
          <c:idx val="0"/>
          <c:order val="0"/>
          <c:tx>
            <c:strRef>
              <c:f>Sheet1!$B$1</c:f>
              <c:strCache>
                <c:ptCount val="1"/>
                <c:pt idx="0">
                  <c:v>Misdiagnosis Rate (%)</c:v>
                </c:pt>
              </c:strCache>
            </c:strRef>
          </c:tx>
          <c:spPr>
            <a:solidFill>
              <a:srgbClr val="E8536A"/>
            </a:solidFill>
            <a:effectLst/>
          </c:spPr>
          <c:invertIfNegative val="0"/>
          <c:dLbls>
            <c:numFmt formatCode="#,##0" sourceLinked="0"/>
            <c:txPr>
              <a:bodyPr/>
              <a:lstStyle/>
              <a:p>
                <a:pPr>
                  <a:defRPr b="0" i="0" strike="noStrike" sz="1100" u="none">
                    <a:solidFill>
                      <a:srgbClr val="EDE9F8"/>
                    </a:solidFill>
                    <a:latin typeface="Arial"/>
                  </a:defRPr>
                </a:pPr>
              </a:p>
            </c:txPr>
            <c:showLegendKey val="0"/>
            <c:showVal val="1"/>
            <c:showCatName val="0"/>
            <c:showSerName val="0"/>
            <c:showPercent val="0"/>
            <c:showBubbleSize val="0"/>
            <c:showLeaderLines val="0"/>
          </c:dLbls>
          <c:dPt>
            <c:idx val="0"/>
            <c:invertIfNegative val="0"/>
            <c:bubble3D val="0"/>
            <c:spPr>
              <a:solidFill>
                <a:srgbClr val="E8536A"/>
              </a:solidFill>
              <a:effectLst/>
            </c:spPr>
          </c:dPt>
          <c:dPt>
            <c:idx val="1"/>
            <c:invertIfNegative val="0"/>
            <c:bubble3D val="0"/>
            <c:spPr>
              <a:solidFill>
                <a:srgbClr val="FF6B6B"/>
              </a:solidFill>
              <a:effectLst/>
            </c:spPr>
          </c:dPt>
          <c:dPt>
            <c:idx val="2"/>
            <c:invertIfNegative val="0"/>
            <c:bubble3D val="0"/>
            <c:spPr>
              <a:solidFill>
                <a:srgbClr val="F4C67A"/>
              </a:solidFill>
              <a:effectLst/>
            </c:spPr>
          </c:dPt>
          <c:dPt>
            <c:idx val="3"/>
            <c:invertIfNegative val="0"/>
            <c:bubble3D val="0"/>
            <c:spPr>
              <a:solidFill>
                <a:srgbClr val="FF6B6B"/>
              </a:solidFill>
              <a:effectLst/>
            </c:spPr>
          </c:dPt>
          <c:cat>
            <c:multiLvlStrRef>
              <c:f>Sheet1!$A$2:$A$5</c:f>
              <c:multiLvlStrCache>
                <c:ptCount val="4"/>
                <c:lvl>
                  <c:pt idx="0">
                    <c:v>Heart Attack</c:v>
                  </c:pt>
                  <c:pt idx="1">
                    <c:v>Autoimmune</c:v>
                  </c:pt>
                  <c:pt idx="2">
                    <c:v>Chronic Pain</c:v>
                  </c:pt>
                  <c:pt idx="3">
                    <c:v>Stroke</c:v>
                  </c:pt>
                </c:lvl>
              </c:multiLvlStrCache>
            </c:multiLvlStrRef>
          </c:cat>
          <c:val>
            <c:numRef>
              <c:f>Sheet1!$B$2:$B$5</c:f>
              <c:numCache>
                <c:formatCode>General</c:formatCode>
                <c:ptCount val="4"/>
                <c:pt idx="0">
                  <c:v>50</c:v>
                </c:pt>
                <c:pt idx="1">
                  <c:v>63</c:v>
                </c:pt>
                <c:pt idx="2">
                  <c:v>70</c:v>
                </c:pt>
                <c:pt idx="3">
                  <c:v>43</c:v>
                </c:pt>
              </c:numCache>
            </c:numRef>
          </c:val>
        </c:ser>
        <c:dLbls>
          <c:numFmt formatCode="#,##0" sourceLinked="0"/>
          <c:txPr>
            <a:bodyPr/>
            <a:lstStyle/>
            <a:p>
              <a:pPr>
                <a:defRPr b="0" i="0" strike="noStrike" sz="1100" u="none">
                  <a:solidFill>
                    <a:srgbClr val="EDE9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8AA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2A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8AA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A1A2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8A8AAA"/>
                </a:solidFill>
                <a:latin typeface="Arial"/>
              </a:defRPr>
            </a:pPr>
            <a:r>
              <a:rPr sz="1100" b="0" i="0" u="none" strike="noStrike">
                <a:solidFill>
                  <a:srgbClr val="8A8AAA"/>
                </a:solidFill>
                <a:latin typeface="Arial"/>
              </a:rPr>
              <a:t>Early Clinical Trial Subject Distribution</a:t>
            </a:r>
          </a:p>
        </c:rich>
      </c:tx>
      <c:layout/>
      <c:overlay val="0"/>
    </c:title>
    <c:autoTitleDeleted val="0"/>
    <c:plotArea>
      <c:layout/>
      <c:doughnutChart>
        <c:varyColors val="1"/>
        <c:ser>
          <c:idx val="0"/>
          <c:order val="0"/>
          <c:tx>
            <c:strRef>
              <c:f>Sheet1!$B$1</c:f>
              <c:strCache>
                <c:ptCount val="1"/>
                <c:pt idx="0">
                  <c:v>Trial Inclusion</c:v>
                </c:pt>
              </c:strCache>
            </c:strRef>
          </c:tx>
          <c:spPr>
            <a:solidFill>
              <a:schemeClr val="accent1"/>
            </a:solidFill>
            <a:ln w="9525" cap="flat">
              <a:solidFill>
                <a:srgbClr val="F9F9F9"/>
              </a:solidFill>
              <a:prstDash val="solid"/>
              <a:round/>
            </a:ln>
            <a:effectLst/>
          </c:spPr>
          <c:dPt>
            <c:idx val="0"/>
            <c:bubble3D val="0"/>
            <c:spPr>
              <a:solidFill>
                <a:srgbClr val="E8536A"/>
              </a:solidFill>
              <a:effectLst/>
            </c:spPr>
          </c:dPt>
          <c:dPt>
            <c:idx val="1"/>
            <c:bubble3D val="0"/>
            <c:spPr>
              <a:solidFill>
                <a:srgbClr val="6BE8C8"/>
              </a:solidFill>
              <a:effectLst/>
            </c:spPr>
          </c:dPt>
          <c:dPt>
            <c:idx val="2"/>
            <c:bubble3D val="0"/>
            <c:spPr>
              <a:solidFill>
                <a:srgbClr val="F4C67A"/>
              </a:solidFill>
              <a:effectLst/>
            </c:spPr>
          </c:dPt>
          <c:dLbls>
            <c:dLbl>
              <c:idx val="0"/>
              <c:numFmt formatCode="0%" sourceLinked="0"/>
              <c:spPr/>
              <c:txPr>
                <a:bodyPr/>
                <a:lstStyle/>
                <a:p>
                  <a:pPr>
                    <a:defRPr sz="1200" b="0" i="0" u="none" strike="noStrike">
                      <a:solidFill>
                        <a:srgbClr val="0A0A0F"/>
                      </a:solidFill>
                      <a:latin typeface="Arial"/>
                    </a:defRPr>
                  </a:pPr>
                </a:p>
              </c:txPr>
              <c:showLegendKey val="0"/>
              <c:showVal val="0"/>
              <c:showCatName val="1"/>
              <c:showSerName val="0"/>
              <c:showPercent val="1"/>
              <c:showBubbleSize val="0"/>
            </c:dLbl>
            <c:dLbl>
              <c:idx val="1"/>
              <c:numFmt formatCode="0%" sourceLinked="0"/>
              <c:spPr/>
              <c:txPr>
                <a:bodyPr/>
                <a:lstStyle/>
                <a:p>
                  <a:pPr>
                    <a:defRPr sz="1200" b="0" i="0" u="none" strike="noStrike">
                      <a:solidFill>
                        <a:srgbClr val="0A0A0F"/>
                      </a:solidFill>
                      <a:latin typeface="Arial"/>
                    </a:defRPr>
                  </a:pPr>
                </a:p>
              </c:txPr>
              <c:showLegendKey val="0"/>
              <c:showVal val="0"/>
              <c:showCatName val="1"/>
              <c:showSerName val="0"/>
              <c:showPercent val="1"/>
              <c:showBubbleSize val="0"/>
            </c:dLbl>
            <c:dLbl>
              <c:idx val="2"/>
              <c:numFmt formatCode="0%" sourceLinked="0"/>
              <c:spPr/>
              <c:txPr>
                <a:bodyPr/>
                <a:lstStyle/>
                <a:p>
                  <a:pPr>
                    <a:defRPr sz="1200" b="0" i="0" u="none" strike="noStrike">
                      <a:solidFill>
                        <a:srgbClr val="0A0A0F"/>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Male subjects</c:v>
                </c:pt>
                <c:pt idx="1">
                  <c:v>Female subjects</c:v>
                </c:pt>
                <c:pt idx="2">
                  <c:v>Mixed</c:v>
                </c:pt>
              </c:strCache>
            </c:strRef>
          </c:cat>
          <c:val>
            <c:numRef>
              <c:f>Sheet1!$B$2:$B$4</c:f>
              <c:numCache>
                <c:ptCount val="3"/>
                <c:pt idx="0">
                  <c:v>55</c:v>
                </c:pt>
                <c:pt idx="1">
                  <c:v>18</c:v>
                </c:pt>
                <c:pt idx="2">
                  <c:v>27</c:v>
                </c:pt>
              </c:numCache>
            </c:numRef>
          </c:val>
        </c:ser>
        <c:firstSliceAng val="0"/>
        <c:holeSize val="50"/>
      </c:doughnutChart>
      <c:spPr>
        <a:noFill/>
        <a:ln>
          <a:noFill/>
        </a:ln>
        <a:effectLst/>
      </c:spPr>
    </c:plotArea>
    <c:legend>
      <c:legendPos val="b"/>
      <c:overlay val="0"/>
      <c:txPr>
        <a:bodyPr/>
        <a:lstStyle/>
        <a:p>
          <a:pPr>
            <a:defRPr sz="1000">
              <a:solidFill>
                <a:srgbClr val="8A8AAA"/>
              </a:solidFill>
            </a:defRPr>
          </a:pPr>
          <a:endParaRPr lang="en-US"/>
        </a:p>
      </c:txPr>
    </c:legend>
    <c:plotVisOnly val="1"/>
    <c:dispBlanksAs val="span"/>
  </c:chart>
  <c:spPr>
    <a:solidFill>
      <a:srgbClr val="1A1A2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everyone. Today I want to talk about something that affects every single woman in this room — whether she knows it or not.
The Pill Problem. It sounds like it's about birth control. It's not. It's about a much bigger issue: the fact that for decades, the tools we use to measure, diagnose, and treat our bodies — the IoT health monitors, the drug dosing algorithms, the medical AI — were built and tested almost entirely on male bodies.
Today we're going to explore that problem through three real patient stories, and then you're going to have a chance to actually fix the technology yourself.
This is not just history. This is happening right now, in hospitals, on wrists wearing fitness trackers, in emergency rooms across the world.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THE SCALE
These three numbers tell the whole story.
80% — That's not a small rounding error. When the FDA pulled drugs from the market in the late 1990s because they were dangerous, 80 percent of those drugs turned out to be specifically dangerous for women. Why? Because they were tested on men.
7 years — If you are a woman having a heart attack right now, on average you will wait seven years longer than a man to get the correct diagnosis. Seven years. That's not a funding gap. That's a calibration gap in the technology that's supposed to help you.
50% — Half of early clinical trials simply didn't include women. Not because anyone thought women were less important. Often it was because female hormones "complicated the data." So they just... left us out.
These aren't ancient statistics. The devices being used in hospitals and on our wrists today were largely built on that foundation.
The question is: what do we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WHAT IS IoT IN HEALTHCARE
Before we get into the patient stories, let's quickly ground ourselves in what we mean by IoT — Internet of Things — in healthcare.
These are the connected devices that collect data from your body in real time and feed it to algorithms, doctors, or apps. Cardiac patches on your chest. Bone density rings on your finger. Smart dispensers in hospitals. Continuous glucose monitors.
Here's the critical point: every single one of these devices has a "normal range" baked in. A threshold that says: this reading is healthy, this reading is an emergency.
Those thresholds were set during clinical trials. And those clinical trials, for much of the 20th century, used male volunteers as the standard.
So when a woman's body produces a reading that looks "normal" against the male calibration — but is actually dangerous for her biology — the device misses it. Completely.
That's the Pill Problem. It's not about pills. It's about calibration. It's about whose body we decided to call "default."
Let's meet three women who experienced this first-hand.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AMARA'S CASE
Meet Amara. 44 years old, Nairobi. She arrives at the hospital feeling exhausted, jaw pain, nauseous. Classic symptoms — but classic for a woman having a heart attack.
The problem? The IoT cardiac monitor in that ward was calibrated on male bodies. When it measured her troponin — the protein released when heart muscle is damaged — it compared her reading to the male normal range. Her level looked fine.
So the algorithm said: anxiety. She was sent home with antidepressants.
This is not fiction. This exact scenario has been documented thousands of times globally. Women's hearts are physically smaller, produce less troponin, and present cardiac events with entirely different symptoms — jaw pain, fatigue, nausea — rather than the dramatic chest-crushing pain the machines are trained to recognise.
The technology failed her not because it was broken. It was working perfectly — perfectly calibrated for someone else's body.
Women are 50% more likely to be misdiagnosed after a heart attack. And in our simulation, participants will actually adjust the troponin thresholds and symptom weights to correct this.
Let's look at the second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FATIMA'S CASE
Fatima wore a smart bone-density wearable for six months. She was doing everything right — tracking her health, monitoring her body.
The device never triggered a single alert. Then she broke her wrist falling off a small step.
Here's what happened: Fatima's T-score was -2.4. The wearable's osteoporosis alert was set at -2.5 — just one decimal point away from where Fatima was. And she was post-menopausal.
That threshold of -2.5? It was established by the WHO in the 1990s using bone density measurements taken primarily from men. For post-menopausal women — who lose bone 3 to 5 times faster due to estrogen decline — the relevant threshold is closer to -2.2.
The technology missed her by a decimal point. A decimal point that was wrong from the start.
This is what we mean when we say calibration matters. It's not dramatic. It's not obvious. It's a tiny number, quietly in the wrong place, for thirty years.
In our simulation, participants can adjust this threshold and see the alert fire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ZAWADI'S CASE
Our third case is perhaps the most preventable. Zawadi is 31 years old. She's admitted to hospital and given a routine sedative — a medication that's been used safely for years.
The hospital's IoT drug dispenser calculates her dose. It takes her weight, applies the standard pharmacokinetic model... and dispenses.
The problem is that "standard pharmacokinetic model" is built on male metabolism data. Women have different body fat distribution. Our hormones — particularly in the luteal phase of the menstrual cycle — slow the metabolism of certain sedatives by up to 35%.
Zawadi received 40% more sedative than her body could safely process. This was flagged in her chart as an "unusual patient response." Not as a technology failure. Not as a miscalibration. An unusual patient.
She was the one marked as unusual — for having a female body.
This is why we need IoT devices that are built for everyone. Not just for the default.
The fix is not complicated: adjust the metabolic model for female biology, add a cycle-phase variable, reduce the dose. She recovers fully. That's it.
Now let's talk about what we can do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THE SIMULATION
This is where the presentation becomes interactive.
[LAUNCH THE SIMULATION — open the-pill-problem.html on the screen]
I want everyone to look at the screen. Or, if you have your own device, open it there.
We have three patients: Amara, Fatima, and Zawadi — the same women we just met. Each has real vitals, a current wrong diagnosis, and a set of IoT calibration controls.
Your job is to adjust the parameters until the device gets it right. You'll move sliders for troponin thresholds, bone density reference ranges, drug metabolism models. You'll toggle on cycle phase tracking.
Once you've adjusted at least two parameters, you can run the diagnosis — and you'll see the before and after side by side. Wrong diagnosis vs. what it should have been.
[Give audience 5–10 minutes to explore]
After we've played with all three cases, we'll come back and talk about what this means for the future — and what each of us can do.
Ready?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THE DATA
Let's look at the data that sits behind those three stories.
On the left — misdiagnosis rates for women across four major conditions. Chronic pain: 70% of women report being dismissed or misdiagnosed before getting help. Autoimmune conditions: 63%. Heart attack: 50%. These are not edge cases.
On the right — clinical trial subject distribution. Even in mixed trials, female subjects often make up less than 18% of participants. When female hormones "complicated the results," researchers simply excluded women. The data that runs our medical technology today was built on those trials.
The good news — and there is good news — is that this is a technology problem. And technology problems can be fixed. Unlike deeply embedded cultural biases, calibration can be updated. Thresholds can be changed. Algorithms can be retrained.
What it requires is for engineers, designers, product managers — the people who build IoT health technology — to know this problem exists. And to decide it matters.
That's why we're here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CALL TO ACTION
So what do we do now?
We are in a room full of people who have influence over technology. Engineers, students, researchers, future product managers. These five actions are real and achievable.
[Go through each briefly]
Demand Inclusive Trials — as consumers, as researchers, as grant reviewers. This is a policy fight as much as a technical one.
Build Female-First IoT — if you build health technology, make the default female. Not because women are more important, but because designing for the more complex case means everyone is covered.
Audit Existing Devices — this could be a research project, a thesis, a workplace audit. What are the calibration baselines in the devices your hospital, clinic, or company uses? When were they last updated with female data?
Train the Algorithm — open health datasets that represent diverse female biology are urgently needed. Contributing to or advocating for these is impactful, technical work.
Tell This Story — you know the Pill Problem now. That's already powerful. Every person who knows about this and goes into a room where medical technology is being designed carries that knowledge with them.
The Pill Problem is solvable. It's a calibration issue. And calibration can be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CLOSING
Thank you for being here today.
I want to leave you with one thing: the Pill Problem is not a mystery. It's not a conspiracy. It is a calibration error — made decades ago, quietly embedded into devices, and never corrected.
The women in our three cases — Amara, Fatima, Zawadi — represent millions of real women whose conditions were missed, whose pain was dismissed, whose bodies were marked as "unusual" because the technology that was supposed to help them was built for someone else.
We can change this. It starts with knowing the problem exists. It continues with people like you — in rooms where technology is designed, where trials are approved, where devices are built — deciding that a woman's body deserves to be the standard, not the exception.
The simulation is available for you to explore and share. Every time someone plays it, they leave knowing what you know now.
Thank you. Happy Women's Day.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FF6B6B"/>
          </a:solidFill>
          <a:ln w="12700">
            <a:solidFill>
              <a:srgbClr val="FF6B6B"/>
            </a:solidFill>
            <a:prstDash val="solid"/>
          </a:ln>
        </p:spPr>
      </p:sp>
      <p:sp>
        <p:nvSpPr>
          <p:cNvPr id="3" name="Shape 1"/>
          <p:cNvSpPr/>
          <p:nvPr/>
        </p:nvSpPr>
        <p:spPr>
          <a:xfrm>
            <a:off x="5669280" y="274320"/>
            <a:ext cx="73152" cy="73152"/>
          </a:xfrm>
          <a:prstGeom prst="ellipse">
            <a:avLst/>
          </a:prstGeom>
          <a:solidFill>
            <a:srgbClr val="FF6B6B">
              <a:alpha val="25000"/>
            </a:srgbClr>
          </a:solidFill>
          <a:ln w="12700">
            <a:solidFill>
              <a:srgbClr val="FF6B6B">
                <a:alpha val="25000"/>
              </a:srgbClr>
            </a:solidFill>
            <a:prstDash val="solid"/>
          </a:ln>
        </p:spPr>
      </p:sp>
      <p:sp>
        <p:nvSpPr>
          <p:cNvPr id="4" name="Shape 2"/>
          <p:cNvSpPr/>
          <p:nvPr/>
        </p:nvSpPr>
        <p:spPr>
          <a:xfrm>
            <a:off x="6080760" y="274320"/>
            <a:ext cx="73152" cy="73152"/>
          </a:xfrm>
          <a:prstGeom prst="ellipse">
            <a:avLst/>
          </a:prstGeom>
          <a:solidFill>
            <a:srgbClr val="FF6B6B">
              <a:alpha val="25000"/>
            </a:srgbClr>
          </a:solidFill>
          <a:ln w="12700">
            <a:solidFill>
              <a:srgbClr val="FF6B6B">
                <a:alpha val="25000"/>
              </a:srgbClr>
            </a:solidFill>
            <a:prstDash val="solid"/>
          </a:ln>
        </p:spPr>
      </p:sp>
      <p:sp>
        <p:nvSpPr>
          <p:cNvPr id="5" name="Shape 3"/>
          <p:cNvSpPr/>
          <p:nvPr/>
        </p:nvSpPr>
        <p:spPr>
          <a:xfrm>
            <a:off x="6492240" y="274320"/>
            <a:ext cx="73152" cy="73152"/>
          </a:xfrm>
          <a:prstGeom prst="ellipse">
            <a:avLst/>
          </a:prstGeom>
          <a:solidFill>
            <a:srgbClr val="FF6B6B">
              <a:alpha val="25000"/>
            </a:srgbClr>
          </a:solidFill>
          <a:ln w="12700">
            <a:solidFill>
              <a:srgbClr val="FF6B6B">
                <a:alpha val="25000"/>
              </a:srgbClr>
            </a:solidFill>
            <a:prstDash val="solid"/>
          </a:ln>
        </p:spPr>
      </p:sp>
      <p:sp>
        <p:nvSpPr>
          <p:cNvPr id="6" name="Shape 4"/>
          <p:cNvSpPr/>
          <p:nvPr/>
        </p:nvSpPr>
        <p:spPr>
          <a:xfrm>
            <a:off x="6903720" y="274320"/>
            <a:ext cx="73152" cy="73152"/>
          </a:xfrm>
          <a:prstGeom prst="ellipse">
            <a:avLst/>
          </a:prstGeom>
          <a:solidFill>
            <a:srgbClr val="FF6B6B">
              <a:alpha val="25000"/>
            </a:srgbClr>
          </a:solidFill>
          <a:ln w="12700">
            <a:solidFill>
              <a:srgbClr val="FF6B6B">
                <a:alpha val="25000"/>
              </a:srgbClr>
            </a:solidFill>
            <a:prstDash val="solid"/>
          </a:ln>
        </p:spPr>
      </p:sp>
      <p:sp>
        <p:nvSpPr>
          <p:cNvPr id="7" name="Shape 5"/>
          <p:cNvSpPr/>
          <p:nvPr/>
        </p:nvSpPr>
        <p:spPr>
          <a:xfrm>
            <a:off x="7315200" y="274320"/>
            <a:ext cx="73152" cy="73152"/>
          </a:xfrm>
          <a:prstGeom prst="ellipse">
            <a:avLst/>
          </a:prstGeom>
          <a:solidFill>
            <a:srgbClr val="FF6B6B">
              <a:alpha val="25000"/>
            </a:srgbClr>
          </a:solidFill>
          <a:ln w="12700">
            <a:solidFill>
              <a:srgbClr val="FF6B6B">
                <a:alpha val="25000"/>
              </a:srgbClr>
            </a:solidFill>
            <a:prstDash val="solid"/>
          </a:ln>
        </p:spPr>
      </p:sp>
      <p:sp>
        <p:nvSpPr>
          <p:cNvPr id="8" name="Shape 6"/>
          <p:cNvSpPr/>
          <p:nvPr/>
        </p:nvSpPr>
        <p:spPr>
          <a:xfrm>
            <a:off x="7726680" y="274320"/>
            <a:ext cx="73152" cy="73152"/>
          </a:xfrm>
          <a:prstGeom prst="ellipse">
            <a:avLst/>
          </a:prstGeom>
          <a:solidFill>
            <a:srgbClr val="FF6B6B">
              <a:alpha val="25000"/>
            </a:srgbClr>
          </a:solidFill>
          <a:ln w="12700">
            <a:solidFill>
              <a:srgbClr val="FF6B6B">
                <a:alpha val="25000"/>
              </a:srgbClr>
            </a:solidFill>
            <a:prstDash val="solid"/>
          </a:ln>
        </p:spPr>
      </p:sp>
      <p:sp>
        <p:nvSpPr>
          <p:cNvPr id="9" name="Shape 7"/>
          <p:cNvSpPr/>
          <p:nvPr/>
        </p:nvSpPr>
        <p:spPr>
          <a:xfrm>
            <a:off x="8138160" y="274320"/>
            <a:ext cx="73152" cy="73152"/>
          </a:xfrm>
          <a:prstGeom prst="ellipse">
            <a:avLst/>
          </a:prstGeom>
          <a:solidFill>
            <a:srgbClr val="FF6B6B">
              <a:alpha val="25000"/>
            </a:srgbClr>
          </a:solidFill>
          <a:ln w="12700">
            <a:solidFill>
              <a:srgbClr val="FF6B6B">
                <a:alpha val="25000"/>
              </a:srgbClr>
            </a:solidFill>
            <a:prstDash val="solid"/>
          </a:ln>
        </p:spPr>
      </p:sp>
      <p:sp>
        <p:nvSpPr>
          <p:cNvPr id="10" name="Shape 8"/>
          <p:cNvSpPr/>
          <p:nvPr/>
        </p:nvSpPr>
        <p:spPr>
          <a:xfrm>
            <a:off x="8549640" y="274320"/>
            <a:ext cx="73152" cy="73152"/>
          </a:xfrm>
          <a:prstGeom prst="ellipse">
            <a:avLst/>
          </a:prstGeom>
          <a:solidFill>
            <a:srgbClr val="FF6B6B">
              <a:alpha val="25000"/>
            </a:srgbClr>
          </a:solidFill>
          <a:ln w="12700">
            <a:solidFill>
              <a:srgbClr val="FF6B6B">
                <a:alpha val="25000"/>
              </a:srgbClr>
            </a:solidFill>
            <a:prstDash val="solid"/>
          </a:ln>
        </p:spPr>
      </p:sp>
      <p:sp>
        <p:nvSpPr>
          <p:cNvPr id="11" name="Shape 9"/>
          <p:cNvSpPr/>
          <p:nvPr/>
        </p:nvSpPr>
        <p:spPr>
          <a:xfrm>
            <a:off x="5669280" y="685800"/>
            <a:ext cx="73152" cy="73152"/>
          </a:xfrm>
          <a:prstGeom prst="ellipse">
            <a:avLst/>
          </a:prstGeom>
          <a:solidFill>
            <a:srgbClr val="FF6B6B">
              <a:alpha val="25000"/>
            </a:srgbClr>
          </a:solidFill>
          <a:ln w="12700">
            <a:solidFill>
              <a:srgbClr val="FF6B6B">
                <a:alpha val="25000"/>
              </a:srgbClr>
            </a:solidFill>
            <a:prstDash val="solid"/>
          </a:ln>
        </p:spPr>
      </p:sp>
      <p:sp>
        <p:nvSpPr>
          <p:cNvPr id="12" name="Shape 10"/>
          <p:cNvSpPr/>
          <p:nvPr/>
        </p:nvSpPr>
        <p:spPr>
          <a:xfrm>
            <a:off x="6080760" y="685800"/>
            <a:ext cx="73152" cy="73152"/>
          </a:xfrm>
          <a:prstGeom prst="ellipse">
            <a:avLst/>
          </a:prstGeom>
          <a:solidFill>
            <a:srgbClr val="FF6B6B">
              <a:alpha val="25000"/>
            </a:srgbClr>
          </a:solidFill>
          <a:ln w="12700">
            <a:solidFill>
              <a:srgbClr val="FF6B6B">
                <a:alpha val="25000"/>
              </a:srgbClr>
            </a:solidFill>
            <a:prstDash val="solid"/>
          </a:ln>
        </p:spPr>
      </p:sp>
      <p:sp>
        <p:nvSpPr>
          <p:cNvPr id="13" name="Shape 11"/>
          <p:cNvSpPr/>
          <p:nvPr/>
        </p:nvSpPr>
        <p:spPr>
          <a:xfrm>
            <a:off x="6492240" y="685800"/>
            <a:ext cx="73152" cy="73152"/>
          </a:xfrm>
          <a:prstGeom prst="ellipse">
            <a:avLst/>
          </a:prstGeom>
          <a:solidFill>
            <a:srgbClr val="FF6B6B">
              <a:alpha val="25000"/>
            </a:srgbClr>
          </a:solidFill>
          <a:ln w="12700">
            <a:solidFill>
              <a:srgbClr val="FF6B6B">
                <a:alpha val="25000"/>
              </a:srgbClr>
            </a:solidFill>
            <a:prstDash val="solid"/>
          </a:ln>
        </p:spPr>
      </p:sp>
      <p:sp>
        <p:nvSpPr>
          <p:cNvPr id="14" name="Shape 12"/>
          <p:cNvSpPr/>
          <p:nvPr/>
        </p:nvSpPr>
        <p:spPr>
          <a:xfrm>
            <a:off x="6903720" y="685800"/>
            <a:ext cx="73152" cy="73152"/>
          </a:xfrm>
          <a:prstGeom prst="ellipse">
            <a:avLst/>
          </a:prstGeom>
          <a:solidFill>
            <a:srgbClr val="FF6B6B">
              <a:alpha val="25000"/>
            </a:srgbClr>
          </a:solidFill>
          <a:ln w="12700">
            <a:solidFill>
              <a:srgbClr val="FF6B6B">
                <a:alpha val="25000"/>
              </a:srgbClr>
            </a:solidFill>
            <a:prstDash val="solid"/>
          </a:ln>
        </p:spPr>
      </p:sp>
      <p:sp>
        <p:nvSpPr>
          <p:cNvPr id="15" name="Shape 13"/>
          <p:cNvSpPr/>
          <p:nvPr/>
        </p:nvSpPr>
        <p:spPr>
          <a:xfrm>
            <a:off x="7315200" y="685800"/>
            <a:ext cx="73152" cy="73152"/>
          </a:xfrm>
          <a:prstGeom prst="ellipse">
            <a:avLst/>
          </a:prstGeom>
          <a:solidFill>
            <a:srgbClr val="FF6B6B">
              <a:alpha val="25000"/>
            </a:srgbClr>
          </a:solidFill>
          <a:ln w="12700">
            <a:solidFill>
              <a:srgbClr val="FF6B6B">
                <a:alpha val="25000"/>
              </a:srgbClr>
            </a:solidFill>
            <a:prstDash val="solid"/>
          </a:ln>
        </p:spPr>
      </p:sp>
      <p:sp>
        <p:nvSpPr>
          <p:cNvPr id="16" name="Shape 14"/>
          <p:cNvSpPr/>
          <p:nvPr/>
        </p:nvSpPr>
        <p:spPr>
          <a:xfrm>
            <a:off x="7726680" y="685800"/>
            <a:ext cx="73152" cy="73152"/>
          </a:xfrm>
          <a:prstGeom prst="ellipse">
            <a:avLst/>
          </a:prstGeom>
          <a:solidFill>
            <a:srgbClr val="FF6B6B">
              <a:alpha val="25000"/>
            </a:srgbClr>
          </a:solidFill>
          <a:ln w="12700">
            <a:solidFill>
              <a:srgbClr val="FF6B6B">
                <a:alpha val="25000"/>
              </a:srgbClr>
            </a:solidFill>
            <a:prstDash val="solid"/>
          </a:ln>
        </p:spPr>
      </p:sp>
      <p:sp>
        <p:nvSpPr>
          <p:cNvPr id="17" name="Shape 15"/>
          <p:cNvSpPr/>
          <p:nvPr/>
        </p:nvSpPr>
        <p:spPr>
          <a:xfrm>
            <a:off x="8138160" y="685800"/>
            <a:ext cx="73152" cy="73152"/>
          </a:xfrm>
          <a:prstGeom prst="ellipse">
            <a:avLst/>
          </a:prstGeom>
          <a:solidFill>
            <a:srgbClr val="FF6B6B">
              <a:alpha val="25000"/>
            </a:srgbClr>
          </a:solidFill>
          <a:ln w="12700">
            <a:solidFill>
              <a:srgbClr val="FF6B6B">
                <a:alpha val="25000"/>
              </a:srgbClr>
            </a:solidFill>
            <a:prstDash val="solid"/>
          </a:ln>
        </p:spPr>
      </p:sp>
      <p:sp>
        <p:nvSpPr>
          <p:cNvPr id="18" name="Shape 16"/>
          <p:cNvSpPr/>
          <p:nvPr/>
        </p:nvSpPr>
        <p:spPr>
          <a:xfrm>
            <a:off x="8549640" y="685800"/>
            <a:ext cx="73152" cy="73152"/>
          </a:xfrm>
          <a:prstGeom prst="ellipse">
            <a:avLst/>
          </a:prstGeom>
          <a:solidFill>
            <a:srgbClr val="FF6B6B">
              <a:alpha val="25000"/>
            </a:srgbClr>
          </a:solidFill>
          <a:ln w="12700">
            <a:solidFill>
              <a:srgbClr val="FF6B6B">
                <a:alpha val="25000"/>
              </a:srgbClr>
            </a:solidFill>
            <a:prstDash val="solid"/>
          </a:ln>
        </p:spPr>
      </p:sp>
      <p:sp>
        <p:nvSpPr>
          <p:cNvPr id="19" name="Shape 17"/>
          <p:cNvSpPr/>
          <p:nvPr/>
        </p:nvSpPr>
        <p:spPr>
          <a:xfrm>
            <a:off x="5669280" y="1097280"/>
            <a:ext cx="73152" cy="73152"/>
          </a:xfrm>
          <a:prstGeom prst="ellipse">
            <a:avLst/>
          </a:prstGeom>
          <a:solidFill>
            <a:srgbClr val="FF6B6B">
              <a:alpha val="25000"/>
            </a:srgbClr>
          </a:solidFill>
          <a:ln w="12700">
            <a:solidFill>
              <a:srgbClr val="FF6B6B">
                <a:alpha val="25000"/>
              </a:srgbClr>
            </a:solidFill>
            <a:prstDash val="solid"/>
          </a:ln>
        </p:spPr>
      </p:sp>
      <p:sp>
        <p:nvSpPr>
          <p:cNvPr id="20" name="Shape 18"/>
          <p:cNvSpPr/>
          <p:nvPr/>
        </p:nvSpPr>
        <p:spPr>
          <a:xfrm>
            <a:off x="6080760" y="1097280"/>
            <a:ext cx="73152" cy="73152"/>
          </a:xfrm>
          <a:prstGeom prst="ellipse">
            <a:avLst/>
          </a:prstGeom>
          <a:solidFill>
            <a:srgbClr val="FF6B6B">
              <a:alpha val="25000"/>
            </a:srgbClr>
          </a:solidFill>
          <a:ln w="12700">
            <a:solidFill>
              <a:srgbClr val="FF6B6B">
                <a:alpha val="25000"/>
              </a:srgbClr>
            </a:solidFill>
            <a:prstDash val="solid"/>
          </a:ln>
        </p:spPr>
      </p:sp>
      <p:sp>
        <p:nvSpPr>
          <p:cNvPr id="21" name="Shape 19"/>
          <p:cNvSpPr/>
          <p:nvPr/>
        </p:nvSpPr>
        <p:spPr>
          <a:xfrm>
            <a:off x="6492240" y="1097280"/>
            <a:ext cx="73152" cy="73152"/>
          </a:xfrm>
          <a:prstGeom prst="ellipse">
            <a:avLst/>
          </a:prstGeom>
          <a:solidFill>
            <a:srgbClr val="FF6B6B">
              <a:alpha val="25000"/>
            </a:srgbClr>
          </a:solidFill>
          <a:ln w="12700">
            <a:solidFill>
              <a:srgbClr val="FF6B6B">
                <a:alpha val="25000"/>
              </a:srgbClr>
            </a:solidFill>
            <a:prstDash val="solid"/>
          </a:ln>
        </p:spPr>
      </p:sp>
      <p:sp>
        <p:nvSpPr>
          <p:cNvPr id="22" name="Shape 20"/>
          <p:cNvSpPr/>
          <p:nvPr/>
        </p:nvSpPr>
        <p:spPr>
          <a:xfrm>
            <a:off x="6903720" y="1097280"/>
            <a:ext cx="73152" cy="73152"/>
          </a:xfrm>
          <a:prstGeom prst="ellipse">
            <a:avLst/>
          </a:prstGeom>
          <a:solidFill>
            <a:srgbClr val="FF6B6B">
              <a:alpha val="25000"/>
            </a:srgbClr>
          </a:solidFill>
          <a:ln w="12700">
            <a:solidFill>
              <a:srgbClr val="FF6B6B">
                <a:alpha val="25000"/>
              </a:srgbClr>
            </a:solidFill>
            <a:prstDash val="solid"/>
          </a:ln>
        </p:spPr>
      </p:sp>
      <p:sp>
        <p:nvSpPr>
          <p:cNvPr id="23" name="Shape 21"/>
          <p:cNvSpPr/>
          <p:nvPr/>
        </p:nvSpPr>
        <p:spPr>
          <a:xfrm>
            <a:off x="7315200" y="1097280"/>
            <a:ext cx="73152" cy="73152"/>
          </a:xfrm>
          <a:prstGeom prst="ellipse">
            <a:avLst/>
          </a:prstGeom>
          <a:solidFill>
            <a:srgbClr val="FF6B6B">
              <a:alpha val="25000"/>
            </a:srgbClr>
          </a:solidFill>
          <a:ln w="12700">
            <a:solidFill>
              <a:srgbClr val="FF6B6B">
                <a:alpha val="25000"/>
              </a:srgbClr>
            </a:solidFill>
            <a:prstDash val="solid"/>
          </a:ln>
        </p:spPr>
      </p:sp>
      <p:sp>
        <p:nvSpPr>
          <p:cNvPr id="24" name="Shape 22"/>
          <p:cNvSpPr/>
          <p:nvPr/>
        </p:nvSpPr>
        <p:spPr>
          <a:xfrm>
            <a:off x="7726680" y="1097280"/>
            <a:ext cx="73152" cy="73152"/>
          </a:xfrm>
          <a:prstGeom prst="ellipse">
            <a:avLst/>
          </a:prstGeom>
          <a:solidFill>
            <a:srgbClr val="FF6B6B">
              <a:alpha val="25000"/>
            </a:srgbClr>
          </a:solidFill>
          <a:ln w="12700">
            <a:solidFill>
              <a:srgbClr val="FF6B6B">
                <a:alpha val="25000"/>
              </a:srgbClr>
            </a:solidFill>
            <a:prstDash val="solid"/>
          </a:ln>
        </p:spPr>
      </p:sp>
      <p:sp>
        <p:nvSpPr>
          <p:cNvPr id="25" name="Shape 23"/>
          <p:cNvSpPr/>
          <p:nvPr/>
        </p:nvSpPr>
        <p:spPr>
          <a:xfrm>
            <a:off x="8138160" y="1097280"/>
            <a:ext cx="73152" cy="73152"/>
          </a:xfrm>
          <a:prstGeom prst="ellipse">
            <a:avLst/>
          </a:prstGeom>
          <a:solidFill>
            <a:srgbClr val="FF6B6B">
              <a:alpha val="25000"/>
            </a:srgbClr>
          </a:solidFill>
          <a:ln w="12700">
            <a:solidFill>
              <a:srgbClr val="FF6B6B">
                <a:alpha val="25000"/>
              </a:srgbClr>
            </a:solidFill>
            <a:prstDash val="solid"/>
          </a:ln>
        </p:spPr>
      </p:sp>
      <p:sp>
        <p:nvSpPr>
          <p:cNvPr id="26" name="Shape 24"/>
          <p:cNvSpPr/>
          <p:nvPr/>
        </p:nvSpPr>
        <p:spPr>
          <a:xfrm>
            <a:off x="8549640" y="1097280"/>
            <a:ext cx="73152" cy="73152"/>
          </a:xfrm>
          <a:prstGeom prst="ellipse">
            <a:avLst/>
          </a:prstGeom>
          <a:solidFill>
            <a:srgbClr val="FF6B6B">
              <a:alpha val="25000"/>
            </a:srgbClr>
          </a:solidFill>
          <a:ln w="12700">
            <a:solidFill>
              <a:srgbClr val="FF6B6B">
                <a:alpha val="25000"/>
              </a:srgbClr>
            </a:solidFill>
            <a:prstDash val="solid"/>
          </a:ln>
        </p:spPr>
      </p:sp>
      <p:sp>
        <p:nvSpPr>
          <p:cNvPr id="27" name="Shape 25"/>
          <p:cNvSpPr/>
          <p:nvPr/>
        </p:nvSpPr>
        <p:spPr>
          <a:xfrm>
            <a:off x="5669280" y="1508760"/>
            <a:ext cx="73152" cy="73152"/>
          </a:xfrm>
          <a:prstGeom prst="ellipse">
            <a:avLst/>
          </a:prstGeom>
          <a:solidFill>
            <a:srgbClr val="FF6B6B">
              <a:alpha val="25000"/>
            </a:srgbClr>
          </a:solidFill>
          <a:ln w="12700">
            <a:solidFill>
              <a:srgbClr val="FF6B6B">
                <a:alpha val="25000"/>
              </a:srgbClr>
            </a:solidFill>
            <a:prstDash val="solid"/>
          </a:ln>
        </p:spPr>
      </p:sp>
      <p:sp>
        <p:nvSpPr>
          <p:cNvPr id="28" name="Shape 26"/>
          <p:cNvSpPr/>
          <p:nvPr/>
        </p:nvSpPr>
        <p:spPr>
          <a:xfrm>
            <a:off x="6080760" y="1508760"/>
            <a:ext cx="73152" cy="73152"/>
          </a:xfrm>
          <a:prstGeom prst="ellipse">
            <a:avLst/>
          </a:prstGeom>
          <a:solidFill>
            <a:srgbClr val="FF6B6B">
              <a:alpha val="25000"/>
            </a:srgbClr>
          </a:solidFill>
          <a:ln w="12700">
            <a:solidFill>
              <a:srgbClr val="FF6B6B">
                <a:alpha val="25000"/>
              </a:srgbClr>
            </a:solidFill>
            <a:prstDash val="solid"/>
          </a:ln>
        </p:spPr>
      </p:sp>
      <p:sp>
        <p:nvSpPr>
          <p:cNvPr id="29" name="Shape 27"/>
          <p:cNvSpPr/>
          <p:nvPr/>
        </p:nvSpPr>
        <p:spPr>
          <a:xfrm>
            <a:off x="6492240" y="1508760"/>
            <a:ext cx="73152" cy="73152"/>
          </a:xfrm>
          <a:prstGeom prst="ellipse">
            <a:avLst/>
          </a:prstGeom>
          <a:solidFill>
            <a:srgbClr val="FF6B6B">
              <a:alpha val="25000"/>
            </a:srgbClr>
          </a:solidFill>
          <a:ln w="12700">
            <a:solidFill>
              <a:srgbClr val="FF6B6B">
                <a:alpha val="25000"/>
              </a:srgbClr>
            </a:solidFill>
            <a:prstDash val="solid"/>
          </a:ln>
        </p:spPr>
      </p:sp>
      <p:sp>
        <p:nvSpPr>
          <p:cNvPr id="30" name="Shape 28"/>
          <p:cNvSpPr/>
          <p:nvPr/>
        </p:nvSpPr>
        <p:spPr>
          <a:xfrm>
            <a:off x="6903720" y="1508760"/>
            <a:ext cx="73152" cy="73152"/>
          </a:xfrm>
          <a:prstGeom prst="ellipse">
            <a:avLst/>
          </a:prstGeom>
          <a:solidFill>
            <a:srgbClr val="FF6B6B">
              <a:alpha val="25000"/>
            </a:srgbClr>
          </a:solidFill>
          <a:ln w="12700">
            <a:solidFill>
              <a:srgbClr val="FF6B6B">
                <a:alpha val="25000"/>
              </a:srgbClr>
            </a:solidFill>
            <a:prstDash val="solid"/>
          </a:ln>
        </p:spPr>
      </p:sp>
      <p:sp>
        <p:nvSpPr>
          <p:cNvPr id="31" name="Shape 29"/>
          <p:cNvSpPr/>
          <p:nvPr/>
        </p:nvSpPr>
        <p:spPr>
          <a:xfrm>
            <a:off x="7315200" y="1508760"/>
            <a:ext cx="73152" cy="73152"/>
          </a:xfrm>
          <a:prstGeom prst="ellipse">
            <a:avLst/>
          </a:prstGeom>
          <a:solidFill>
            <a:srgbClr val="FF6B6B">
              <a:alpha val="25000"/>
            </a:srgbClr>
          </a:solidFill>
          <a:ln w="12700">
            <a:solidFill>
              <a:srgbClr val="FF6B6B">
                <a:alpha val="25000"/>
              </a:srgbClr>
            </a:solidFill>
            <a:prstDash val="solid"/>
          </a:ln>
        </p:spPr>
      </p:sp>
      <p:sp>
        <p:nvSpPr>
          <p:cNvPr id="32" name="Shape 30"/>
          <p:cNvSpPr/>
          <p:nvPr/>
        </p:nvSpPr>
        <p:spPr>
          <a:xfrm>
            <a:off x="7726680" y="1508760"/>
            <a:ext cx="73152" cy="73152"/>
          </a:xfrm>
          <a:prstGeom prst="ellipse">
            <a:avLst/>
          </a:prstGeom>
          <a:solidFill>
            <a:srgbClr val="FF6B6B">
              <a:alpha val="25000"/>
            </a:srgbClr>
          </a:solidFill>
          <a:ln w="12700">
            <a:solidFill>
              <a:srgbClr val="FF6B6B">
                <a:alpha val="25000"/>
              </a:srgbClr>
            </a:solidFill>
            <a:prstDash val="solid"/>
          </a:ln>
        </p:spPr>
      </p:sp>
      <p:sp>
        <p:nvSpPr>
          <p:cNvPr id="33" name="Shape 31"/>
          <p:cNvSpPr/>
          <p:nvPr/>
        </p:nvSpPr>
        <p:spPr>
          <a:xfrm>
            <a:off x="8138160" y="1508760"/>
            <a:ext cx="73152" cy="73152"/>
          </a:xfrm>
          <a:prstGeom prst="ellipse">
            <a:avLst/>
          </a:prstGeom>
          <a:solidFill>
            <a:srgbClr val="FF6B6B">
              <a:alpha val="25000"/>
            </a:srgbClr>
          </a:solidFill>
          <a:ln w="12700">
            <a:solidFill>
              <a:srgbClr val="FF6B6B">
                <a:alpha val="25000"/>
              </a:srgbClr>
            </a:solidFill>
            <a:prstDash val="solid"/>
          </a:ln>
        </p:spPr>
      </p:sp>
      <p:sp>
        <p:nvSpPr>
          <p:cNvPr id="34" name="Shape 32"/>
          <p:cNvSpPr/>
          <p:nvPr/>
        </p:nvSpPr>
        <p:spPr>
          <a:xfrm>
            <a:off x="8549640" y="1508760"/>
            <a:ext cx="73152" cy="73152"/>
          </a:xfrm>
          <a:prstGeom prst="ellipse">
            <a:avLst/>
          </a:prstGeom>
          <a:solidFill>
            <a:srgbClr val="FF6B6B">
              <a:alpha val="25000"/>
            </a:srgbClr>
          </a:solidFill>
          <a:ln w="12700">
            <a:solidFill>
              <a:srgbClr val="FF6B6B">
                <a:alpha val="25000"/>
              </a:srgbClr>
            </a:solidFill>
            <a:prstDash val="solid"/>
          </a:ln>
        </p:spPr>
      </p:sp>
      <p:sp>
        <p:nvSpPr>
          <p:cNvPr id="35" name="Shape 33"/>
          <p:cNvSpPr/>
          <p:nvPr/>
        </p:nvSpPr>
        <p:spPr>
          <a:xfrm>
            <a:off x="5669280" y="1920240"/>
            <a:ext cx="73152" cy="73152"/>
          </a:xfrm>
          <a:prstGeom prst="ellipse">
            <a:avLst/>
          </a:prstGeom>
          <a:solidFill>
            <a:srgbClr val="FF6B6B">
              <a:alpha val="25000"/>
            </a:srgbClr>
          </a:solidFill>
          <a:ln w="12700">
            <a:solidFill>
              <a:srgbClr val="FF6B6B">
                <a:alpha val="25000"/>
              </a:srgbClr>
            </a:solidFill>
            <a:prstDash val="solid"/>
          </a:ln>
        </p:spPr>
      </p:sp>
      <p:sp>
        <p:nvSpPr>
          <p:cNvPr id="36" name="Shape 34"/>
          <p:cNvSpPr/>
          <p:nvPr/>
        </p:nvSpPr>
        <p:spPr>
          <a:xfrm>
            <a:off x="6080760" y="1920240"/>
            <a:ext cx="73152" cy="73152"/>
          </a:xfrm>
          <a:prstGeom prst="ellipse">
            <a:avLst/>
          </a:prstGeom>
          <a:solidFill>
            <a:srgbClr val="FF6B6B">
              <a:alpha val="25000"/>
            </a:srgbClr>
          </a:solidFill>
          <a:ln w="12700">
            <a:solidFill>
              <a:srgbClr val="FF6B6B">
                <a:alpha val="25000"/>
              </a:srgbClr>
            </a:solidFill>
            <a:prstDash val="solid"/>
          </a:ln>
        </p:spPr>
      </p:sp>
      <p:sp>
        <p:nvSpPr>
          <p:cNvPr id="37" name="Shape 35"/>
          <p:cNvSpPr/>
          <p:nvPr/>
        </p:nvSpPr>
        <p:spPr>
          <a:xfrm>
            <a:off x="6492240" y="1920240"/>
            <a:ext cx="73152" cy="73152"/>
          </a:xfrm>
          <a:prstGeom prst="ellipse">
            <a:avLst/>
          </a:prstGeom>
          <a:solidFill>
            <a:srgbClr val="FF6B6B">
              <a:alpha val="25000"/>
            </a:srgbClr>
          </a:solidFill>
          <a:ln w="12700">
            <a:solidFill>
              <a:srgbClr val="FF6B6B">
                <a:alpha val="25000"/>
              </a:srgbClr>
            </a:solidFill>
            <a:prstDash val="solid"/>
          </a:ln>
        </p:spPr>
      </p:sp>
      <p:sp>
        <p:nvSpPr>
          <p:cNvPr id="38" name="Shape 36"/>
          <p:cNvSpPr/>
          <p:nvPr/>
        </p:nvSpPr>
        <p:spPr>
          <a:xfrm>
            <a:off x="6903720" y="1920240"/>
            <a:ext cx="73152" cy="73152"/>
          </a:xfrm>
          <a:prstGeom prst="ellipse">
            <a:avLst/>
          </a:prstGeom>
          <a:solidFill>
            <a:srgbClr val="FF6B6B">
              <a:alpha val="25000"/>
            </a:srgbClr>
          </a:solidFill>
          <a:ln w="12700">
            <a:solidFill>
              <a:srgbClr val="FF6B6B">
                <a:alpha val="25000"/>
              </a:srgbClr>
            </a:solidFill>
            <a:prstDash val="solid"/>
          </a:ln>
        </p:spPr>
      </p:sp>
      <p:sp>
        <p:nvSpPr>
          <p:cNvPr id="39" name="Shape 37"/>
          <p:cNvSpPr/>
          <p:nvPr/>
        </p:nvSpPr>
        <p:spPr>
          <a:xfrm>
            <a:off x="7315200" y="1920240"/>
            <a:ext cx="73152" cy="73152"/>
          </a:xfrm>
          <a:prstGeom prst="ellipse">
            <a:avLst/>
          </a:prstGeom>
          <a:solidFill>
            <a:srgbClr val="FF6B6B">
              <a:alpha val="25000"/>
            </a:srgbClr>
          </a:solidFill>
          <a:ln w="12700">
            <a:solidFill>
              <a:srgbClr val="FF6B6B">
                <a:alpha val="25000"/>
              </a:srgbClr>
            </a:solidFill>
            <a:prstDash val="solid"/>
          </a:ln>
        </p:spPr>
      </p:sp>
      <p:sp>
        <p:nvSpPr>
          <p:cNvPr id="40" name="Shape 38"/>
          <p:cNvSpPr/>
          <p:nvPr/>
        </p:nvSpPr>
        <p:spPr>
          <a:xfrm>
            <a:off x="7726680" y="1920240"/>
            <a:ext cx="73152" cy="73152"/>
          </a:xfrm>
          <a:prstGeom prst="ellipse">
            <a:avLst/>
          </a:prstGeom>
          <a:solidFill>
            <a:srgbClr val="FF6B6B">
              <a:alpha val="25000"/>
            </a:srgbClr>
          </a:solidFill>
          <a:ln w="12700">
            <a:solidFill>
              <a:srgbClr val="FF6B6B">
                <a:alpha val="25000"/>
              </a:srgbClr>
            </a:solidFill>
            <a:prstDash val="solid"/>
          </a:ln>
        </p:spPr>
      </p:sp>
      <p:sp>
        <p:nvSpPr>
          <p:cNvPr id="41" name="Shape 39"/>
          <p:cNvSpPr/>
          <p:nvPr/>
        </p:nvSpPr>
        <p:spPr>
          <a:xfrm>
            <a:off x="8138160" y="1920240"/>
            <a:ext cx="73152" cy="73152"/>
          </a:xfrm>
          <a:prstGeom prst="ellipse">
            <a:avLst/>
          </a:prstGeom>
          <a:solidFill>
            <a:srgbClr val="FF6B6B">
              <a:alpha val="25000"/>
            </a:srgbClr>
          </a:solidFill>
          <a:ln w="12700">
            <a:solidFill>
              <a:srgbClr val="FF6B6B">
                <a:alpha val="25000"/>
              </a:srgbClr>
            </a:solidFill>
            <a:prstDash val="solid"/>
          </a:ln>
        </p:spPr>
      </p:sp>
      <p:sp>
        <p:nvSpPr>
          <p:cNvPr id="42" name="Shape 40"/>
          <p:cNvSpPr/>
          <p:nvPr/>
        </p:nvSpPr>
        <p:spPr>
          <a:xfrm>
            <a:off x="8549640" y="1920240"/>
            <a:ext cx="73152" cy="73152"/>
          </a:xfrm>
          <a:prstGeom prst="ellipse">
            <a:avLst/>
          </a:prstGeom>
          <a:solidFill>
            <a:srgbClr val="FF6B6B">
              <a:alpha val="25000"/>
            </a:srgbClr>
          </a:solidFill>
          <a:ln w="12700">
            <a:solidFill>
              <a:srgbClr val="FF6B6B">
                <a:alpha val="25000"/>
              </a:srgbClr>
            </a:solidFill>
            <a:prstDash val="solid"/>
          </a:ln>
        </p:spPr>
      </p:sp>
      <p:sp>
        <p:nvSpPr>
          <p:cNvPr id="43" name="Shape 41"/>
          <p:cNvSpPr/>
          <p:nvPr/>
        </p:nvSpPr>
        <p:spPr>
          <a:xfrm>
            <a:off x="457200" y="365760"/>
            <a:ext cx="2194560" cy="320040"/>
          </a:xfrm>
          <a:prstGeom prst="rect">
            <a:avLst/>
          </a:prstGeom>
          <a:solidFill>
            <a:srgbClr val="FF6B6B">
              <a:alpha val="15000"/>
            </a:srgbClr>
          </a:solidFill>
          <a:ln w="12700">
            <a:solidFill>
              <a:srgbClr val="FF6B6B"/>
            </a:solidFill>
            <a:prstDash val="solid"/>
          </a:ln>
        </p:spPr>
      </p:sp>
      <p:sp>
        <p:nvSpPr>
          <p:cNvPr id="44" name="Text 42"/>
          <p:cNvSpPr/>
          <p:nvPr/>
        </p:nvSpPr>
        <p:spPr>
          <a:xfrm>
            <a:off x="457200" y="365760"/>
            <a:ext cx="2194560" cy="320040"/>
          </a:xfrm>
          <a:prstGeom prst="rect">
            <a:avLst/>
          </a:prstGeom>
          <a:noFill/>
          <a:ln/>
        </p:spPr>
        <p:txBody>
          <a:bodyPr wrap="square" lIns="0" tIns="0" rIns="0" bIns="0" rtlCol="0" anchor="ctr"/>
          <a:lstStyle/>
          <a:p>
            <a:pPr algn="ctr" indent="0" marL="0">
              <a:buNone/>
            </a:pPr>
            <a:r>
              <a:rPr lang="en-US" sz="900" b="1" spc="300" kern="0" dirty="0">
                <a:solidFill>
                  <a:srgbClr val="FF6B6B"/>
                </a:solidFill>
              </a:rPr>
              <a:t>WOMEN'S DAY · 2025</a:t>
            </a:r>
            <a:endParaRPr lang="en-US" sz="900" dirty="0"/>
          </a:p>
        </p:txBody>
      </p:sp>
      <p:sp>
        <p:nvSpPr>
          <p:cNvPr id="45" name="Text 43"/>
          <p:cNvSpPr/>
          <p:nvPr/>
        </p:nvSpPr>
        <p:spPr>
          <a:xfrm>
            <a:off x="457200" y="914400"/>
            <a:ext cx="8229600" cy="731520"/>
          </a:xfrm>
          <a:prstGeom prst="rect">
            <a:avLst/>
          </a:prstGeom>
          <a:noFill/>
          <a:ln/>
        </p:spPr>
        <p:txBody>
          <a:bodyPr wrap="square" rtlCol="0" anchor="ctr"/>
          <a:lstStyle/>
          <a:p>
            <a:pPr indent="0" marL="0">
              <a:buNone/>
            </a:pPr>
            <a:r>
              <a:rPr lang="en-US" sz="4200" dirty="0">
                <a:solidFill>
                  <a:srgbClr val="EDE9F8"/>
                </a:solidFill>
                <a:latin typeface="Georgia" pitchFamily="34" charset="0"/>
                <a:ea typeface="Georgia" pitchFamily="34" charset="-122"/>
                <a:cs typeface="Georgia" pitchFamily="34" charset="-120"/>
              </a:rPr>
              <a:t>The</a:t>
            </a:r>
            <a:endParaRPr lang="en-US" sz="4200" dirty="0"/>
          </a:p>
        </p:txBody>
      </p:sp>
      <p:sp>
        <p:nvSpPr>
          <p:cNvPr id="46" name="Text 44"/>
          <p:cNvSpPr/>
          <p:nvPr/>
        </p:nvSpPr>
        <p:spPr>
          <a:xfrm>
            <a:off x="457200" y="1554480"/>
            <a:ext cx="8229600" cy="1097280"/>
          </a:xfrm>
          <a:prstGeom prst="rect">
            <a:avLst/>
          </a:prstGeom>
          <a:noFill/>
          <a:ln/>
          <a:effectLst>
            <a:outerShdw sx="100000" sy="100000" kx="0" ky="0" algn="bl" rotWithShape="0" blurRad="127000" dist="38100" dir="8100000">
              <a:srgbClr val="000000">
                <a:alpha val="25000"/>
              </a:srgbClr>
            </a:outerShdw>
          </a:effectLst>
        </p:spPr>
        <p:txBody>
          <a:bodyPr wrap="square" rtlCol="0" anchor="ctr"/>
          <a:lstStyle/>
          <a:p>
            <a:pPr indent="0" marL="0">
              <a:buNone/>
            </a:pPr>
            <a:r>
              <a:rPr lang="en-US" sz="7200" b="1" dirty="0">
                <a:solidFill>
                  <a:srgbClr val="FF6B6B"/>
                </a:solidFill>
                <a:latin typeface="Georgia" pitchFamily="34" charset="0"/>
                <a:ea typeface="Georgia" pitchFamily="34" charset="-122"/>
                <a:cs typeface="Georgia" pitchFamily="34" charset="-120"/>
              </a:rPr>
              <a:t>Pill Problem</a:t>
            </a:r>
            <a:endParaRPr lang="en-US" sz="7200" dirty="0"/>
          </a:p>
        </p:txBody>
      </p:sp>
      <p:sp>
        <p:nvSpPr>
          <p:cNvPr id="47" name="Text 45"/>
          <p:cNvSpPr/>
          <p:nvPr/>
        </p:nvSpPr>
        <p:spPr>
          <a:xfrm>
            <a:off x="457200" y="2834640"/>
            <a:ext cx="5943600" cy="640080"/>
          </a:xfrm>
          <a:prstGeom prst="rect">
            <a:avLst/>
          </a:prstGeom>
          <a:noFill/>
          <a:ln/>
        </p:spPr>
        <p:txBody>
          <a:bodyPr wrap="square" rtlCol="0" anchor="ctr"/>
          <a:lstStyle/>
          <a:p>
            <a:pPr indent="0" marL="0">
              <a:buNone/>
            </a:pPr>
            <a:r>
              <a:rPr lang="en-US" sz="1600" i="1" dirty="0">
                <a:solidFill>
                  <a:srgbClr val="8A8AAA"/>
                </a:solidFill>
                <a:latin typeface="Calibri" pitchFamily="34" charset="0"/>
                <a:ea typeface="Calibri" pitchFamily="34" charset="-122"/>
                <a:cs typeface="Calibri" pitchFamily="34" charset="-120"/>
              </a:rPr>
              <a:t>When medical devices are built for men — and women pay the price.</a:t>
            </a:r>
            <a:endParaRPr lang="en-US" sz="1600" dirty="0"/>
          </a:p>
        </p:txBody>
      </p:sp>
      <p:pic>
        <p:nvPicPr>
          <p:cNvPr id="48" name="Image 0" descr="preencoded.png">    </p:cNvPr>
          <p:cNvPicPr>
            <a:picLocks noChangeAspect="1"/>
          </p:cNvPicPr>
          <p:nvPr/>
        </p:nvPicPr>
        <p:blipFill>
          <a:blip r:embed="rId1"/>
          <a:stretch>
            <a:fillRect/>
          </a:stretch>
        </p:blipFill>
        <p:spPr>
          <a:xfrm>
            <a:off x="7132320" y="1828800"/>
            <a:ext cx="1645920" cy="1645920"/>
          </a:xfrm>
          <a:prstGeom prst="rect">
            <a:avLst/>
          </a:prstGeom>
        </p:spPr>
      </p:pic>
      <p:sp>
        <p:nvSpPr>
          <p:cNvPr id="49" name="Shape 46"/>
          <p:cNvSpPr/>
          <p:nvPr/>
        </p:nvSpPr>
        <p:spPr>
          <a:xfrm>
            <a:off x="0" y="4663440"/>
            <a:ext cx="9144000" cy="480060"/>
          </a:xfrm>
          <a:prstGeom prst="rect">
            <a:avLst/>
          </a:prstGeom>
          <a:solidFill>
            <a:srgbClr val="13131C"/>
          </a:solidFill>
          <a:ln w="12700">
            <a:solidFill>
              <a:srgbClr val="13131C"/>
            </a:solidFill>
            <a:prstDash val="solid"/>
          </a:ln>
        </p:spPr>
      </p:sp>
      <p:sp>
        <p:nvSpPr>
          <p:cNvPr id="50" name="Text 47"/>
          <p:cNvSpPr/>
          <p:nvPr/>
        </p:nvSpPr>
        <p:spPr>
          <a:xfrm>
            <a:off x="457200" y="4663440"/>
            <a:ext cx="8229600" cy="480060"/>
          </a:xfrm>
          <a:prstGeom prst="rect">
            <a:avLst/>
          </a:prstGeom>
          <a:noFill/>
          <a:ln/>
        </p:spPr>
        <p:txBody>
          <a:bodyPr wrap="square" rtlCol="0" anchor="ctr"/>
          <a:lstStyle/>
          <a:p>
            <a:pPr algn="ctr" indent="0" marL="0">
              <a:buNone/>
            </a:pPr>
            <a:r>
              <a:rPr lang="en-US" sz="1100" dirty="0">
                <a:solidFill>
                  <a:srgbClr val="8A8AAA"/>
                </a:solidFill>
                <a:latin typeface="Calibri" pitchFamily="34" charset="0"/>
                <a:ea typeface="Calibri" pitchFamily="34" charset="-122"/>
                <a:cs typeface="Calibri" pitchFamily="34" charset="-120"/>
              </a:rPr>
              <a:t>An Interactive IoT Simulation Presentation  ·  Robotics &amp; Women's Health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6B"/>
          </a:solidFill>
          <a:ln w="12700">
            <a:solidFill>
              <a:srgbClr val="FF6B6B"/>
            </a:solidFill>
            <a:prstDash val="solid"/>
          </a:ln>
        </p:spPr>
      </p:sp>
      <p:sp>
        <p:nvSpPr>
          <p:cNvPr id="3" name="Text 1"/>
          <p:cNvSpPr/>
          <p:nvPr/>
        </p:nvSpPr>
        <p:spPr>
          <a:xfrm>
            <a:off x="457200" y="228600"/>
            <a:ext cx="8229600" cy="365760"/>
          </a:xfrm>
          <a:prstGeom prst="rect">
            <a:avLst/>
          </a:prstGeom>
          <a:noFill/>
          <a:ln/>
        </p:spPr>
        <p:txBody>
          <a:bodyPr wrap="square" rtlCol="0" anchor="ctr"/>
          <a:lstStyle/>
          <a:p>
            <a:pPr indent="0" marL="0">
              <a:buNone/>
            </a:pPr>
            <a:r>
              <a:rPr lang="en-US" sz="1000" b="1" spc="400" kern="0" dirty="0">
                <a:solidFill>
                  <a:srgbClr val="FF6B6B"/>
                </a:solidFill>
                <a:latin typeface="Calibri" pitchFamily="34" charset="0"/>
                <a:ea typeface="Calibri" pitchFamily="34" charset="-122"/>
                <a:cs typeface="Calibri" pitchFamily="34" charset="-120"/>
              </a:rPr>
              <a:t>THE SCALE OF THE PROBLEM</a:t>
            </a:r>
            <a:endParaRPr lang="en-US" sz="1000" dirty="0"/>
          </a:p>
        </p:txBody>
      </p:sp>
      <p:sp>
        <p:nvSpPr>
          <p:cNvPr id="4" name="Text 2"/>
          <p:cNvSpPr/>
          <p:nvPr/>
        </p:nvSpPr>
        <p:spPr>
          <a:xfrm>
            <a:off x="457200" y="594360"/>
            <a:ext cx="8229600" cy="594360"/>
          </a:xfrm>
          <a:prstGeom prst="rect">
            <a:avLst/>
          </a:prstGeom>
          <a:noFill/>
          <a:ln/>
        </p:spPr>
        <p:txBody>
          <a:bodyPr wrap="square" rtlCol="0" anchor="ctr"/>
          <a:lstStyle/>
          <a:p>
            <a:pPr indent="0" marL="0">
              <a:buNone/>
            </a:pPr>
            <a:r>
              <a:rPr lang="en-US" sz="3600" b="1" dirty="0">
                <a:solidFill>
                  <a:srgbClr val="EDE9F8"/>
                </a:solidFill>
                <a:latin typeface="Georgia" pitchFamily="34" charset="0"/>
                <a:ea typeface="Georgia" pitchFamily="34" charset="-122"/>
                <a:cs typeface="Georgia" pitchFamily="34" charset="-120"/>
              </a:rPr>
              <a:t>How did we get here?</a:t>
            </a:r>
            <a:endParaRPr lang="en-US" sz="3600" dirty="0"/>
          </a:p>
        </p:txBody>
      </p:sp>
      <p:sp>
        <p:nvSpPr>
          <p:cNvPr id="5" name="Shape 3"/>
          <p:cNvSpPr/>
          <p:nvPr/>
        </p:nvSpPr>
        <p:spPr>
          <a:xfrm>
            <a:off x="320040" y="1371600"/>
            <a:ext cx="2651760" cy="329184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6" name="Shape 4"/>
          <p:cNvSpPr/>
          <p:nvPr/>
        </p:nvSpPr>
        <p:spPr>
          <a:xfrm>
            <a:off x="320040" y="1371600"/>
            <a:ext cx="2651760" cy="64008"/>
          </a:xfrm>
          <a:prstGeom prst="rect">
            <a:avLst/>
          </a:prstGeom>
          <a:solidFill>
            <a:srgbClr val="FF6B6B"/>
          </a:solidFill>
          <a:ln w="12700">
            <a:solidFill>
              <a:srgbClr val="FF6B6B"/>
            </a:solidFill>
            <a:prstDash val="solid"/>
          </a:ln>
        </p:spPr>
      </p:sp>
      <p:pic>
        <p:nvPicPr>
          <p:cNvPr id="7" name="Image 0" descr="preencoded.png">    </p:cNvPr>
          <p:cNvPicPr>
            <a:picLocks noChangeAspect="1"/>
          </p:cNvPicPr>
          <p:nvPr/>
        </p:nvPicPr>
        <p:blipFill>
          <a:blip r:embed="rId1"/>
          <a:stretch>
            <a:fillRect/>
          </a:stretch>
        </p:blipFill>
        <p:spPr>
          <a:xfrm>
            <a:off x="1325880" y="1554480"/>
            <a:ext cx="594360" cy="594360"/>
          </a:xfrm>
          <a:prstGeom prst="rect">
            <a:avLst/>
          </a:prstGeom>
        </p:spPr>
      </p:pic>
      <p:sp>
        <p:nvSpPr>
          <p:cNvPr id="8" name="Text 5"/>
          <p:cNvSpPr/>
          <p:nvPr/>
        </p:nvSpPr>
        <p:spPr>
          <a:xfrm>
            <a:off x="411480" y="2194560"/>
            <a:ext cx="2468880" cy="868680"/>
          </a:xfrm>
          <a:prstGeom prst="rect">
            <a:avLst/>
          </a:prstGeom>
          <a:noFill/>
          <a:ln/>
        </p:spPr>
        <p:txBody>
          <a:bodyPr wrap="square" lIns="0" tIns="0" rIns="0" bIns="0" rtlCol="0" anchor="ctr"/>
          <a:lstStyle/>
          <a:p>
            <a:pPr algn="ctr" indent="0" marL="0">
              <a:buNone/>
            </a:pPr>
            <a:r>
              <a:rPr lang="en-US" sz="5200" b="1" dirty="0">
                <a:solidFill>
                  <a:srgbClr val="FF6B6B"/>
                </a:solidFill>
                <a:latin typeface="Georgia" pitchFamily="34" charset="0"/>
                <a:ea typeface="Georgia" pitchFamily="34" charset="-122"/>
                <a:cs typeface="Georgia" pitchFamily="34" charset="-120"/>
              </a:rPr>
              <a:t>80%</a:t>
            </a:r>
            <a:endParaRPr lang="en-US" sz="5200" dirty="0"/>
          </a:p>
        </p:txBody>
      </p:sp>
      <p:sp>
        <p:nvSpPr>
          <p:cNvPr id="9" name="Text 6"/>
          <p:cNvSpPr/>
          <p:nvPr/>
        </p:nvSpPr>
        <p:spPr>
          <a:xfrm>
            <a:off x="457200" y="3108960"/>
            <a:ext cx="2377440" cy="1371600"/>
          </a:xfrm>
          <a:prstGeom prst="rect">
            <a:avLst/>
          </a:prstGeom>
          <a:noFill/>
          <a:ln/>
        </p:spPr>
        <p:txBody>
          <a:bodyPr wrap="square" rtlCol="0" anchor="t"/>
          <a:lstStyle/>
          <a:p>
            <a:pPr algn="ctr" indent="0" marL="0">
              <a:buNone/>
            </a:pPr>
            <a:r>
              <a:rPr lang="en-US" sz="1200" dirty="0">
                <a:solidFill>
                  <a:srgbClr val="8A8AAA"/>
                </a:solidFill>
                <a:latin typeface="Calibri" pitchFamily="34" charset="0"/>
                <a:ea typeface="Calibri" pitchFamily="34" charset="-122"/>
                <a:cs typeface="Calibri" pitchFamily="34" charset="-120"/>
              </a:rPr>
              <a:t>of drugs pulled from market</a:t>
            </a:r>
            <a:endParaRPr lang="en-US" sz="1200" dirty="0"/>
          </a:p>
          <a:p>
            <a:pPr algn="ctr" indent="0" marL="0">
              <a:buNone/>
            </a:pPr>
            <a:r>
              <a:rPr lang="en-US" sz="1200" dirty="0">
                <a:solidFill>
                  <a:srgbClr val="8A8AAA"/>
                </a:solidFill>
                <a:latin typeface="Calibri" pitchFamily="34" charset="0"/>
                <a:ea typeface="Calibri" pitchFamily="34" charset="-122"/>
                <a:cs typeface="Calibri" pitchFamily="34" charset="-120"/>
              </a:rPr>
              <a:t>between 1997–2000 had worse</a:t>
            </a:r>
            <a:endParaRPr lang="en-US" sz="1200" dirty="0"/>
          </a:p>
          <a:p>
            <a:pPr algn="ctr" indent="0" marL="0">
              <a:buNone/>
            </a:pPr>
            <a:r>
              <a:rPr lang="en-US" sz="1200" dirty="0">
                <a:solidFill>
                  <a:srgbClr val="8A8AAA"/>
                </a:solidFill>
                <a:latin typeface="Calibri" pitchFamily="34" charset="0"/>
                <a:ea typeface="Calibri" pitchFamily="34" charset="-122"/>
                <a:cs typeface="Calibri" pitchFamily="34" charset="-120"/>
              </a:rPr>
              <a:t>side effects in women</a:t>
            </a:r>
            <a:endParaRPr lang="en-US" sz="1200" dirty="0"/>
          </a:p>
        </p:txBody>
      </p:sp>
      <p:sp>
        <p:nvSpPr>
          <p:cNvPr id="10" name="Shape 7"/>
          <p:cNvSpPr/>
          <p:nvPr/>
        </p:nvSpPr>
        <p:spPr>
          <a:xfrm>
            <a:off x="3200400" y="1371600"/>
            <a:ext cx="2651760" cy="329184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11" name="Shape 8"/>
          <p:cNvSpPr/>
          <p:nvPr/>
        </p:nvSpPr>
        <p:spPr>
          <a:xfrm>
            <a:off x="3200400" y="1371600"/>
            <a:ext cx="2651760" cy="64008"/>
          </a:xfrm>
          <a:prstGeom prst="rect">
            <a:avLst/>
          </a:prstGeom>
          <a:solidFill>
            <a:srgbClr val="E8536A"/>
          </a:solidFill>
          <a:ln w="12700">
            <a:solidFill>
              <a:srgbClr val="E8536A"/>
            </a:solidFill>
            <a:prstDash val="solid"/>
          </a:ln>
        </p:spPr>
      </p:sp>
      <p:pic>
        <p:nvPicPr>
          <p:cNvPr id="12" name="Image 1" descr="preencoded.png">    </p:cNvPr>
          <p:cNvPicPr>
            <a:picLocks noChangeAspect="1"/>
          </p:cNvPicPr>
          <p:nvPr/>
        </p:nvPicPr>
        <p:blipFill>
          <a:blip r:embed="rId2"/>
          <a:stretch>
            <a:fillRect/>
          </a:stretch>
        </p:blipFill>
        <p:spPr>
          <a:xfrm>
            <a:off x="4206240" y="1554480"/>
            <a:ext cx="594360" cy="594360"/>
          </a:xfrm>
          <a:prstGeom prst="rect">
            <a:avLst/>
          </a:prstGeom>
        </p:spPr>
      </p:pic>
      <p:sp>
        <p:nvSpPr>
          <p:cNvPr id="13" name="Text 9"/>
          <p:cNvSpPr/>
          <p:nvPr/>
        </p:nvSpPr>
        <p:spPr>
          <a:xfrm>
            <a:off x="3291840" y="2194560"/>
            <a:ext cx="2468880" cy="868680"/>
          </a:xfrm>
          <a:prstGeom prst="rect">
            <a:avLst/>
          </a:prstGeom>
          <a:noFill/>
          <a:ln/>
        </p:spPr>
        <p:txBody>
          <a:bodyPr wrap="square" lIns="0" tIns="0" rIns="0" bIns="0" rtlCol="0" anchor="ctr"/>
          <a:lstStyle/>
          <a:p>
            <a:pPr algn="ctr" indent="0" marL="0">
              <a:buNone/>
            </a:pPr>
            <a:r>
              <a:rPr lang="en-US" sz="5200" b="1" dirty="0">
                <a:solidFill>
                  <a:srgbClr val="E8536A"/>
                </a:solidFill>
                <a:latin typeface="Georgia" pitchFamily="34" charset="0"/>
                <a:ea typeface="Georgia" pitchFamily="34" charset="-122"/>
                <a:cs typeface="Georgia" pitchFamily="34" charset="-120"/>
              </a:rPr>
              <a:t>7 yrs</a:t>
            </a:r>
            <a:endParaRPr lang="en-US" sz="5200" dirty="0"/>
          </a:p>
        </p:txBody>
      </p:sp>
      <p:sp>
        <p:nvSpPr>
          <p:cNvPr id="14" name="Text 10"/>
          <p:cNvSpPr/>
          <p:nvPr/>
        </p:nvSpPr>
        <p:spPr>
          <a:xfrm>
            <a:off x="3337560" y="3108960"/>
            <a:ext cx="2377440" cy="1371600"/>
          </a:xfrm>
          <a:prstGeom prst="rect">
            <a:avLst/>
          </a:prstGeom>
          <a:noFill/>
          <a:ln/>
        </p:spPr>
        <p:txBody>
          <a:bodyPr wrap="square" rtlCol="0" anchor="t"/>
          <a:lstStyle/>
          <a:p>
            <a:pPr algn="ctr" indent="0" marL="0">
              <a:buNone/>
            </a:pPr>
            <a:r>
              <a:rPr lang="en-US" sz="1200" dirty="0">
                <a:solidFill>
                  <a:srgbClr val="8A8AAA"/>
                </a:solidFill>
                <a:latin typeface="Calibri" pitchFamily="34" charset="0"/>
                <a:ea typeface="Calibri" pitchFamily="34" charset="-122"/>
                <a:cs typeface="Calibri" pitchFamily="34" charset="-120"/>
              </a:rPr>
              <a:t>longer women wait for a</a:t>
            </a:r>
            <a:endParaRPr lang="en-US" sz="1200" dirty="0"/>
          </a:p>
          <a:p>
            <a:pPr algn="ctr" indent="0" marL="0">
              <a:buNone/>
            </a:pPr>
            <a:r>
              <a:rPr lang="en-US" sz="1200" dirty="0">
                <a:solidFill>
                  <a:srgbClr val="8A8AAA"/>
                </a:solidFill>
                <a:latin typeface="Calibri" pitchFamily="34" charset="0"/>
                <a:ea typeface="Calibri" pitchFamily="34" charset="-122"/>
                <a:cs typeface="Calibri" pitchFamily="34" charset="-120"/>
              </a:rPr>
              <a:t>correct heart disease</a:t>
            </a:r>
            <a:endParaRPr lang="en-US" sz="1200" dirty="0"/>
          </a:p>
          <a:p>
            <a:pPr algn="ctr" indent="0" marL="0">
              <a:buNone/>
            </a:pPr>
            <a:r>
              <a:rPr lang="en-US" sz="1200" dirty="0">
                <a:solidFill>
                  <a:srgbClr val="8A8AAA"/>
                </a:solidFill>
                <a:latin typeface="Calibri" pitchFamily="34" charset="0"/>
                <a:ea typeface="Calibri" pitchFamily="34" charset="-122"/>
                <a:cs typeface="Calibri" pitchFamily="34" charset="-120"/>
              </a:rPr>
              <a:t>diagnosis vs. men</a:t>
            </a:r>
            <a:endParaRPr lang="en-US" sz="1200" dirty="0"/>
          </a:p>
        </p:txBody>
      </p:sp>
      <p:sp>
        <p:nvSpPr>
          <p:cNvPr id="15" name="Shape 11"/>
          <p:cNvSpPr/>
          <p:nvPr/>
        </p:nvSpPr>
        <p:spPr>
          <a:xfrm>
            <a:off x="6080760" y="1371600"/>
            <a:ext cx="2651760" cy="329184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16" name="Shape 12"/>
          <p:cNvSpPr/>
          <p:nvPr/>
        </p:nvSpPr>
        <p:spPr>
          <a:xfrm>
            <a:off x="6080760" y="1371600"/>
            <a:ext cx="2651760" cy="64008"/>
          </a:xfrm>
          <a:prstGeom prst="rect">
            <a:avLst/>
          </a:prstGeom>
          <a:solidFill>
            <a:srgbClr val="F4C67A"/>
          </a:solidFill>
          <a:ln w="12700">
            <a:solidFill>
              <a:srgbClr val="F4C67A"/>
            </a:solidFill>
            <a:prstDash val="solid"/>
          </a:ln>
        </p:spPr>
      </p:sp>
      <p:pic>
        <p:nvPicPr>
          <p:cNvPr id="17" name="Image 2" descr="preencoded.png">    </p:cNvPr>
          <p:cNvPicPr>
            <a:picLocks noChangeAspect="1"/>
          </p:cNvPicPr>
          <p:nvPr/>
        </p:nvPicPr>
        <p:blipFill>
          <a:blip r:embed="rId3"/>
          <a:stretch>
            <a:fillRect/>
          </a:stretch>
        </p:blipFill>
        <p:spPr>
          <a:xfrm>
            <a:off x="7086600" y="1554480"/>
            <a:ext cx="594360" cy="594360"/>
          </a:xfrm>
          <a:prstGeom prst="rect">
            <a:avLst/>
          </a:prstGeom>
        </p:spPr>
      </p:pic>
      <p:sp>
        <p:nvSpPr>
          <p:cNvPr id="18" name="Text 13"/>
          <p:cNvSpPr/>
          <p:nvPr/>
        </p:nvSpPr>
        <p:spPr>
          <a:xfrm>
            <a:off x="6172200" y="2194560"/>
            <a:ext cx="2468880" cy="868680"/>
          </a:xfrm>
          <a:prstGeom prst="rect">
            <a:avLst/>
          </a:prstGeom>
          <a:noFill/>
          <a:ln/>
        </p:spPr>
        <p:txBody>
          <a:bodyPr wrap="square" lIns="0" tIns="0" rIns="0" bIns="0" rtlCol="0" anchor="ctr"/>
          <a:lstStyle/>
          <a:p>
            <a:pPr algn="ctr" indent="0" marL="0">
              <a:buNone/>
            </a:pPr>
            <a:r>
              <a:rPr lang="en-US" sz="5200" b="1" dirty="0">
                <a:solidFill>
                  <a:srgbClr val="F4C67A"/>
                </a:solidFill>
                <a:latin typeface="Georgia" pitchFamily="34" charset="0"/>
                <a:ea typeface="Georgia" pitchFamily="34" charset="-122"/>
                <a:cs typeface="Georgia" pitchFamily="34" charset="-120"/>
              </a:rPr>
              <a:t>50%</a:t>
            </a:r>
            <a:endParaRPr lang="en-US" sz="5200" dirty="0"/>
          </a:p>
        </p:txBody>
      </p:sp>
      <p:sp>
        <p:nvSpPr>
          <p:cNvPr id="19" name="Text 14"/>
          <p:cNvSpPr/>
          <p:nvPr/>
        </p:nvSpPr>
        <p:spPr>
          <a:xfrm>
            <a:off x="6217920" y="3108960"/>
            <a:ext cx="2377440" cy="1371600"/>
          </a:xfrm>
          <a:prstGeom prst="rect">
            <a:avLst/>
          </a:prstGeom>
          <a:noFill/>
          <a:ln/>
        </p:spPr>
        <p:txBody>
          <a:bodyPr wrap="square" rtlCol="0" anchor="t"/>
          <a:lstStyle/>
          <a:p>
            <a:pPr algn="ctr" indent="0" marL="0">
              <a:buNone/>
            </a:pPr>
            <a:r>
              <a:rPr lang="en-US" sz="1200" dirty="0">
                <a:solidFill>
                  <a:srgbClr val="8A8AAA"/>
                </a:solidFill>
                <a:latin typeface="Calibri" pitchFamily="34" charset="0"/>
                <a:ea typeface="Calibri" pitchFamily="34" charset="-122"/>
                <a:cs typeface="Calibri" pitchFamily="34" charset="-120"/>
              </a:rPr>
              <a:t>of early clinical trials</a:t>
            </a:r>
            <a:endParaRPr lang="en-US" sz="1200" dirty="0"/>
          </a:p>
          <a:p>
            <a:pPr algn="ctr" indent="0" marL="0">
              <a:buNone/>
            </a:pPr>
            <a:r>
              <a:rPr lang="en-US" sz="1200" dirty="0">
                <a:solidFill>
                  <a:srgbClr val="8A8AAA"/>
                </a:solidFill>
                <a:latin typeface="Calibri" pitchFamily="34" charset="0"/>
                <a:ea typeface="Calibri" pitchFamily="34" charset="-122"/>
                <a:cs typeface="Calibri" pitchFamily="34" charset="-120"/>
              </a:rPr>
              <a:t>excluded female subjects</a:t>
            </a:r>
            <a:endParaRPr lang="en-US" sz="1200" dirty="0"/>
          </a:p>
          <a:p>
            <a:pPr algn="ctr" indent="0" marL="0">
              <a:buNone/>
            </a:pPr>
            <a:r>
              <a:rPr lang="en-US" sz="1200" dirty="0">
                <a:solidFill>
                  <a:srgbClr val="8A8AAA"/>
                </a:solidFill>
                <a:latin typeface="Calibri" pitchFamily="34" charset="0"/>
                <a:ea typeface="Calibri" pitchFamily="34" charset="-122"/>
                <a:cs typeface="Calibri" pitchFamily="34" charset="-120"/>
              </a:rPr>
              <a:t>altogether</a:t>
            </a:r>
            <a:endParaRPr lang="en-US" sz="1200" dirty="0"/>
          </a:p>
        </p:txBody>
      </p:sp>
      <p:sp>
        <p:nvSpPr>
          <p:cNvPr id="20" name="Text 15"/>
          <p:cNvSpPr/>
          <p:nvPr/>
        </p:nvSpPr>
        <p:spPr>
          <a:xfrm>
            <a:off x="457200" y="4800600"/>
            <a:ext cx="8229600" cy="274320"/>
          </a:xfrm>
          <a:prstGeom prst="rect">
            <a:avLst/>
          </a:prstGeom>
          <a:noFill/>
          <a:ln/>
        </p:spPr>
        <p:txBody>
          <a:bodyPr wrap="square" rtlCol="0" anchor="ctr"/>
          <a:lstStyle/>
          <a:p>
            <a:pPr algn="ctr" indent="0" marL="0">
              <a:buNone/>
            </a:pPr>
            <a:r>
              <a:rPr lang="en-US" sz="800" i="1" dirty="0">
                <a:solidFill>
                  <a:srgbClr val="8A8AAA"/>
                </a:solidFill>
                <a:latin typeface="Calibri" pitchFamily="34" charset="0"/>
                <a:ea typeface="Calibri" pitchFamily="34" charset="-122"/>
                <a:cs typeface="Calibri" pitchFamily="34" charset="-120"/>
              </a:rPr>
              <a:t>Sources: FDA Drug Safety Reports · British Heart Foundation · NIH Office of Research on Women's Health</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31C"/>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A0A0F"/>
          </a:solidFill>
          <a:ln w="12700">
            <a:solidFill>
              <a:srgbClr val="0A0A0F"/>
            </a:solidFill>
            <a:prstDash val="solid"/>
          </a:ln>
        </p:spPr>
      </p:sp>
      <p:sp>
        <p:nvSpPr>
          <p:cNvPr id="3" name="Text 1"/>
          <p:cNvSpPr/>
          <p:nvPr/>
        </p:nvSpPr>
        <p:spPr>
          <a:xfrm>
            <a:off x="274320" y="457200"/>
            <a:ext cx="2926080" cy="1645920"/>
          </a:xfrm>
          <a:prstGeom prst="rect">
            <a:avLst/>
          </a:prstGeom>
          <a:noFill/>
          <a:ln/>
        </p:spPr>
        <p:txBody>
          <a:bodyPr wrap="square" rtlCol="0" anchor="ctr"/>
          <a:lstStyle/>
          <a:p>
            <a:pPr algn="l" indent="0" marL="0">
              <a:buNone/>
            </a:pPr>
            <a:r>
              <a:rPr lang="en-US" sz="2200" b="1" dirty="0">
                <a:solidFill>
                  <a:srgbClr val="EDE9F8"/>
                </a:solidFill>
                <a:latin typeface="Georgia" pitchFamily="34" charset="0"/>
                <a:ea typeface="Georgia" pitchFamily="34" charset="-122"/>
                <a:cs typeface="Georgia" pitchFamily="34" charset="-120"/>
              </a:rPr>
              <a:t>IoT IN HEALTHCARE</a:t>
            </a:r>
            <a:endParaRPr lang="en-US" sz="2200" dirty="0"/>
          </a:p>
        </p:txBody>
      </p:sp>
      <p:sp>
        <p:nvSpPr>
          <p:cNvPr id="4" name="Text 2"/>
          <p:cNvSpPr/>
          <p:nvPr/>
        </p:nvSpPr>
        <p:spPr>
          <a:xfrm>
            <a:off x="274320" y="2103120"/>
            <a:ext cx="2926080" cy="1371600"/>
          </a:xfrm>
          <a:prstGeom prst="rect">
            <a:avLst/>
          </a:prstGeom>
          <a:noFill/>
          <a:ln/>
        </p:spPr>
        <p:txBody>
          <a:bodyPr wrap="square" rtlCol="0" anchor="ctr"/>
          <a:lstStyle/>
          <a:p>
            <a:pPr indent="0" marL="0">
              <a:buNone/>
            </a:pPr>
            <a:r>
              <a:rPr lang="en-US" sz="1400" i="1" dirty="0">
                <a:solidFill>
                  <a:srgbClr val="8A8AAA"/>
                </a:solidFill>
                <a:latin typeface="Calibri" pitchFamily="34" charset="0"/>
                <a:ea typeface="Calibri" pitchFamily="34" charset="-122"/>
                <a:cs typeface="Calibri" pitchFamily="34" charset="-120"/>
              </a:rPr>
              <a:t>The invisible layer</a:t>
            </a:r>
            <a:endParaRPr lang="en-US" sz="1400" dirty="0"/>
          </a:p>
          <a:p>
            <a:pPr indent="0" marL="0">
              <a:buNone/>
            </a:pPr>
            <a:r>
              <a:rPr lang="en-US" sz="1400" i="1" dirty="0">
                <a:solidFill>
                  <a:srgbClr val="8A8AAA"/>
                </a:solidFill>
                <a:latin typeface="Calibri" pitchFamily="34" charset="0"/>
                <a:ea typeface="Calibri" pitchFamily="34" charset="-122"/>
                <a:cs typeface="Calibri" pitchFamily="34" charset="-120"/>
              </a:rPr>
              <a:t>between your body</a:t>
            </a:r>
            <a:endParaRPr lang="en-US" sz="1400" dirty="0"/>
          </a:p>
          <a:p>
            <a:pPr indent="0" marL="0">
              <a:buNone/>
            </a:pPr>
            <a:r>
              <a:rPr lang="en-US" sz="1400" i="1" dirty="0">
                <a:solidFill>
                  <a:srgbClr val="8A8AAA"/>
                </a:solidFill>
                <a:latin typeface="Calibri" pitchFamily="34" charset="0"/>
                <a:ea typeface="Calibri" pitchFamily="34" charset="-122"/>
                <a:cs typeface="Calibri" pitchFamily="34" charset="-120"/>
              </a:rPr>
              <a:t>and your doctor.</a:t>
            </a:r>
            <a:endParaRPr lang="en-US" sz="1400" dirty="0"/>
          </a:p>
        </p:txBody>
      </p:sp>
      <p:pic>
        <p:nvPicPr>
          <p:cNvPr id="5" name="Image 0" descr="preencoded.png">    </p:cNvPr>
          <p:cNvPicPr>
            <a:picLocks noChangeAspect="1"/>
          </p:cNvPicPr>
          <p:nvPr/>
        </p:nvPicPr>
        <p:blipFill>
          <a:blip r:embed="rId1"/>
          <a:stretch>
            <a:fillRect/>
          </a:stretch>
        </p:blipFill>
        <p:spPr>
          <a:xfrm>
            <a:off x="731520" y="3566160"/>
            <a:ext cx="1097280" cy="1097280"/>
          </a:xfrm>
          <a:prstGeom prst="rect">
            <a:avLst/>
          </a:prstGeom>
        </p:spPr>
      </p:pic>
      <p:sp>
        <p:nvSpPr>
          <p:cNvPr id="6" name="Text 3"/>
          <p:cNvSpPr/>
          <p:nvPr/>
        </p:nvSpPr>
        <p:spPr>
          <a:xfrm>
            <a:off x="3749040" y="274320"/>
            <a:ext cx="5120640" cy="365760"/>
          </a:xfrm>
          <a:prstGeom prst="rect">
            <a:avLst/>
          </a:prstGeom>
          <a:noFill/>
          <a:ln/>
        </p:spPr>
        <p:txBody>
          <a:bodyPr wrap="square" rtlCol="0" anchor="ctr"/>
          <a:lstStyle/>
          <a:p>
            <a:pPr indent="0" marL="0">
              <a:buNone/>
            </a:pPr>
            <a:r>
              <a:rPr lang="en-US" sz="1000" b="1" spc="300" kern="0" dirty="0">
                <a:solidFill>
                  <a:srgbClr val="FF6B6B"/>
                </a:solidFill>
                <a:latin typeface="Calibri" pitchFamily="34" charset="0"/>
                <a:ea typeface="Calibri" pitchFamily="34" charset="-122"/>
                <a:cs typeface="Calibri" pitchFamily="34" charset="-120"/>
              </a:rPr>
              <a:t>IoT HEALTH DEVICES IN USE TODAY</a:t>
            </a:r>
            <a:endParaRPr lang="en-US" sz="1000" dirty="0"/>
          </a:p>
        </p:txBody>
      </p:sp>
      <p:sp>
        <p:nvSpPr>
          <p:cNvPr id="7" name="Shape 4"/>
          <p:cNvSpPr/>
          <p:nvPr/>
        </p:nvSpPr>
        <p:spPr>
          <a:xfrm>
            <a:off x="3657600" y="777240"/>
            <a:ext cx="5212080" cy="841248"/>
          </a:xfrm>
          <a:prstGeom prst="rect">
            <a:avLst/>
          </a:prstGeom>
          <a:solidFill>
            <a:srgbClr val="1A1A28"/>
          </a:solidFill>
          <a:ln w="12700">
            <a:solidFill>
              <a:srgbClr val="2A2A3A"/>
            </a:solidFill>
            <a:prstDash val="solid"/>
          </a:ln>
        </p:spPr>
      </p:sp>
      <p:sp>
        <p:nvSpPr>
          <p:cNvPr id="8" name="Shape 5"/>
          <p:cNvSpPr/>
          <p:nvPr/>
        </p:nvSpPr>
        <p:spPr>
          <a:xfrm>
            <a:off x="3657600" y="777240"/>
            <a:ext cx="64008" cy="841248"/>
          </a:xfrm>
          <a:prstGeom prst="rect">
            <a:avLst/>
          </a:prstGeom>
          <a:solidFill>
            <a:srgbClr val="FF6B6B"/>
          </a:solidFill>
          <a:ln w="12700">
            <a:solidFill>
              <a:srgbClr val="FF6B6B"/>
            </a:solidFill>
            <a:prstDash val="solid"/>
          </a:ln>
        </p:spPr>
      </p:sp>
      <p:pic>
        <p:nvPicPr>
          <p:cNvPr id="9" name="Image 1" descr="preencoded.png">    </p:cNvPr>
          <p:cNvPicPr>
            <a:picLocks noChangeAspect="1"/>
          </p:cNvPicPr>
          <p:nvPr/>
        </p:nvPicPr>
        <p:blipFill>
          <a:blip r:embed="rId2"/>
          <a:stretch>
            <a:fillRect/>
          </a:stretch>
        </p:blipFill>
        <p:spPr>
          <a:xfrm>
            <a:off x="3794760" y="941832"/>
            <a:ext cx="475488" cy="475488"/>
          </a:xfrm>
          <a:prstGeom prst="rect">
            <a:avLst/>
          </a:prstGeom>
        </p:spPr>
      </p:pic>
      <p:sp>
        <p:nvSpPr>
          <p:cNvPr id="10" name="Text 6"/>
          <p:cNvSpPr/>
          <p:nvPr/>
        </p:nvSpPr>
        <p:spPr>
          <a:xfrm>
            <a:off x="4370832" y="868680"/>
            <a:ext cx="4389120" cy="274320"/>
          </a:xfrm>
          <a:prstGeom prst="rect">
            <a:avLst/>
          </a:prstGeom>
          <a:noFill/>
          <a:ln/>
        </p:spPr>
        <p:txBody>
          <a:bodyPr wrap="square" lIns="0" tIns="0" rIns="0" bIns="0" rtlCol="0" anchor="ctr"/>
          <a:lstStyle/>
          <a:p>
            <a:pPr indent="0" marL="0">
              <a:buNone/>
            </a:pPr>
            <a:r>
              <a:rPr lang="en-US" sz="1300" b="1" dirty="0">
                <a:solidFill>
                  <a:srgbClr val="EDE9F8"/>
                </a:solidFill>
                <a:latin typeface="Calibri" pitchFamily="34" charset="0"/>
                <a:ea typeface="Calibri" pitchFamily="34" charset="-122"/>
                <a:cs typeface="Calibri" pitchFamily="34" charset="-120"/>
              </a:rPr>
              <a:t>Cardiac Monitors</a:t>
            </a:r>
            <a:endParaRPr lang="en-US" sz="1300" dirty="0"/>
          </a:p>
        </p:txBody>
      </p:sp>
      <p:sp>
        <p:nvSpPr>
          <p:cNvPr id="11" name="Text 7"/>
          <p:cNvSpPr/>
          <p:nvPr/>
        </p:nvSpPr>
        <p:spPr>
          <a:xfrm>
            <a:off x="4370832" y="1161288"/>
            <a:ext cx="4389120" cy="41148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ECG patches, pulse oximeters — measure heart activity continuously. Thresholds set on male trial data.</a:t>
            </a:r>
            <a:endParaRPr lang="en-US" sz="1050" dirty="0"/>
          </a:p>
        </p:txBody>
      </p:sp>
      <p:sp>
        <p:nvSpPr>
          <p:cNvPr id="12" name="Shape 8"/>
          <p:cNvSpPr/>
          <p:nvPr/>
        </p:nvSpPr>
        <p:spPr>
          <a:xfrm>
            <a:off x="3657600" y="1783080"/>
            <a:ext cx="5212080" cy="841248"/>
          </a:xfrm>
          <a:prstGeom prst="rect">
            <a:avLst/>
          </a:prstGeom>
          <a:solidFill>
            <a:srgbClr val="1A1A28"/>
          </a:solidFill>
          <a:ln w="12700">
            <a:solidFill>
              <a:srgbClr val="2A2A3A"/>
            </a:solidFill>
            <a:prstDash val="solid"/>
          </a:ln>
        </p:spPr>
      </p:sp>
      <p:sp>
        <p:nvSpPr>
          <p:cNvPr id="13" name="Shape 9"/>
          <p:cNvSpPr/>
          <p:nvPr/>
        </p:nvSpPr>
        <p:spPr>
          <a:xfrm>
            <a:off x="3657600" y="1783080"/>
            <a:ext cx="64008" cy="841248"/>
          </a:xfrm>
          <a:prstGeom prst="rect">
            <a:avLst/>
          </a:prstGeom>
          <a:solidFill>
            <a:srgbClr val="FF6B6B"/>
          </a:solidFill>
          <a:ln w="12700">
            <a:solidFill>
              <a:srgbClr val="FF6B6B"/>
            </a:solidFill>
            <a:prstDash val="solid"/>
          </a:ln>
        </p:spPr>
      </p:sp>
      <p:pic>
        <p:nvPicPr>
          <p:cNvPr id="14" name="Image 2" descr="preencoded.png">    </p:cNvPr>
          <p:cNvPicPr>
            <a:picLocks noChangeAspect="1"/>
          </p:cNvPicPr>
          <p:nvPr/>
        </p:nvPicPr>
        <p:blipFill>
          <a:blip r:embed="rId3"/>
          <a:stretch>
            <a:fillRect/>
          </a:stretch>
        </p:blipFill>
        <p:spPr>
          <a:xfrm>
            <a:off x="3794760" y="1947672"/>
            <a:ext cx="475488" cy="475488"/>
          </a:xfrm>
          <a:prstGeom prst="rect">
            <a:avLst/>
          </a:prstGeom>
        </p:spPr>
      </p:pic>
      <p:sp>
        <p:nvSpPr>
          <p:cNvPr id="15" name="Text 10"/>
          <p:cNvSpPr/>
          <p:nvPr/>
        </p:nvSpPr>
        <p:spPr>
          <a:xfrm>
            <a:off x="4370832" y="1874520"/>
            <a:ext cx="4389120" cy="274320"/>
          </a:xfrm>
          <a:prstGeom prst="rect">
            <a:avLst/>
          </a:prstGeom>
          <a:noFill/>
          <a:ln/>
        </p:spPr>
        <p:txBody>
          <a:bodyPr wrap="square" lIns="0" tIns="0" rIns="0" bIns="0" rtlCol="0" anchor="ctr"/>
          <a:lstStyle/>
          <a:p>
            <a:pPr indent="0" marL="0">
              <a:buNone/>
            </a:pPr>
            <a:r>
              <a:rPr lang="en-US" sz="1300" b="1" dirty="0">
                <a:solidFill>
                  <a:srgbClr val="EDE9F8"/>
                </a:solidFill>
                <a:latin typeface="Calibri" pitchFamily="34" charset="0"/>
                <a:ea typeface="Calibri" pitchFamily="34" charset="-122"/>
                <a:cs typeface="Calibri" pitchFamily="34" charset="-120"/>
              </a:rPr>
              <a:t>Bone Density Wearables</a:t>
            </a:r>
            <a:endParaRPr lang="en-US" sz="1300" dirty="0"/>
          </a:p>
        </p:txBody>
      </p:sp>
      <p:sp>
        <p:nvSpPr>
          <p:cNvPr id="16" name="Text 11"/>
          <p:cNvSpPr/>
          <p:nvPr/>
        </p:nvSpPr>
        <p:spPr>
          <a:xfrm>
            <a:off x="4370832" y="2167128"/>
            <a:ext cx="4389120" cy="41148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Smart rings &amp; bands estimating bone health. Female bone loss patterns differ significantly from male.</a:t>
            </a:r>
            <a:endParaRPr lang="en-US" sz="1050" dirty="0"/>
          </a:p>
        </p:txBody>
      </p:sp>
      <p:sp>
        <p:nvSpPr>
          <p:cNvPr id="17" name="Shape 12"/>
          <p:cNvSpPr/>
          <p:nvPr/>
        </p:nvSpPr>
        <p:spPr>
          <a:xfrm>
            <a:off x="3657600" y="2788920"/>
            <a:ext cx="5212080" cy="841248"/>
          </a:xfrm>
          <a:prstGeom prst="rect">
            <a:avLst/>
          </a:prstGeom>
          <a:solidFill>
            <a:srgbClr val="1A1A28"/>
          </a:solidFill>
          <a:ln w="12700">
            <a:solidFill>
              <a:srgbClr val="2A2A3A"/>
            </a:solidFill>
            <a:prstDash val="solid"/>
          </a:ln>
        </p:spPr>
      </p:sp>
      <p:sp>
        <p:nvSpPr>
          <p:cNvPr id="18" name="Shape 13"/>
          <p:cNvSpPr/>
          <p:nvPr/>
        </p:nvSpPr>
        <p:spPr>
          <a:xfrm>
            <a:off x="3657600" y="2788920"/>
            <a:ext cx="64008" cy="841248"/>
          </a:xfrm>
          <a:prstGeom prst="rect">
            <a:avLst/>
          </a:prstGeom>
          <a:solidFill>
            <a:srgbClr val="FF6B6B"/>
          </a:solidFill>
          <a:ln w="12700">
            <a:solidFill>
              <a:srgbClr val="FF6B6B"/>
            </a:solidFill>
            <a:prstDash val="solid"/>
          </a:ln>
        </p:spPr>
      </p:sp>
      <p:pic>
        <p:nvPicPr>
          <p:cNvPr id="19" name="Image 3" descr="preencoded.png">    </p:cNvPr>
          <p:cNvPicPr>
            <a:picLocks noChangeAspect="1"/>
          </p:cNvPicPr>
          <p:nvPr/>
        </p:nvPicPr>
        <p:blipFill>
          <a:blip r:embed="rId4"/>
          <a:stretch>
            <a:fillRect/>
          </a:stretch>
        </p:blipFill>
        <p:spPr>
          <a:xfrm>
            <a:off x="3794760" y="2953512"/>
            <a:ext cx="475488" cy="475488"/>
          </a:xfrm>
          <a:prstGeom prst="rect">
            <a:avLst/>
          </a:prstGeom>
        </p:spPr>
      </p:pic>
      <p:sp>
        <p:nvSpPr>
          <p:cNvPr id="20" name="Text 14"/>
          <p:cNvSpPr/>
          <p:nvPr/>
        </p:nvSpPr>
        <p:spPr>
          <a:xfrm>
            <a:off x="4370832" y="2880360"/>
            <a:ext cx="4389120" cy="274320"/>
          </a:xfrm>
          <a:prstGeom prst="rect">
            <a:avLst/>
          </a:prstGeom>
          <a:noFill/>
          <a:ln/>
        </p:spPr>
        <p:txBody>
          <a:bodyPr wrap="square" lIns="0" tIns="0" rIns="0" bIns="0" rtlCol="0" anchor="ctr"/>
          <a:lstStyle/>
          <a:p>
            <a:pPr indent="0" marL="0">
              <a:buNone/>
            </a:pPr>
            <a:r>
              <a:rPr lang="en-US" sz="1300" b="1" dirty="0">
                <a:solidFill>
                  <a:srgbClr val="EDE9F8"/>
                </a:solidFill>
                <a:latin typeface="Calibri" pitchFamily="34" charset="0"/>
                <a:ea typeface="Calibri" pitchFamily="34" charset="-122"/>
                <a:cs typeface="Calibri" pitchFamily="34" charset="-120"/>
              </a:rPr>
              <a:t>Smart Drug Dispensers</a:t>
            </a:r>
            <a:endParaRPr lang="en-US" sz="1300" dirty="0"/>
          </a:p>
        </p:txBody>
      </p:sp>
      <p:sp>
        <p:nvSpPr>
          <p:cNvPr id="21" name="Text 15"/>
          <p:cNvSpPr/>
          <p:nvPr/>
        </p:nvSpPr>
        <p:spPr>
          <a:xfrm>
            <a:off x="4370832" y="3172968"/>
            <a:ext cx="4389120" cy="41148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IoT dispensers calculating dosage by weight &amp; metabolism — using male pharmacokinetic models.</a:t>
            </a:r>
            <a:endParaRPr lang="en-US" sz="1050" dirty="0"/>
          </a:p>
        </p:txBody>
      </p:sp>
      <p:sp>
        <p:nvSpPr>
          <p:cNvPr id="22" name="Shape 16"/>
          <p:cNvSpPr/>
          <p:nvPr/>
        </p:nvSpPr>
        <p:spPr>
          <a:xfrm>
            <a:off x="3657600" y="3794760"/>
            <a:ext cx="5212080" cy="841248"/>
          </a:xfrm>
          <a:prstGeom prst="rect">
            <a:avLst/>
          </a:prstGeom>
          <a:solidFill>
            <a:srgbClr val="1A1A28"/>
          </a:solidFill>
          <a:ln w="12700">
            <a:solidFill>
              <a:srgbClr val="2A2A3A"/>
            </a:solidFill>
            <a:prstDash val="solid"/>
          </a:ln>
        </p:spPr>
      </p:sp>
      <p:sp>
        <p:nvSpPr>
          <p:cNvPr id="23" name="Shape 17"/>
          <p:cNvSpPr/>
          <p:nvPr/>
        </p:nvSpPr>
        <p:spPr>
          <a:xfrm>
            <a:off x="3657600" y="3794760"/>
            <a:ext cx="64008" cy="841248"/>
          </a:xfrm>
          <a:prstGeom prst="rect">
            <a:avLst/>
          </a:prstGeom>
          <a:solidFill>
            <a:srgbClr val="FF6B6B"/>
          </a:solidFill>
          <a:ln w="12700">
            <a:solidFill>
              <a:srgbClr val="FF6B6B"/>
            </a:solidFill>
            <a:prstDash val="solid"/>
          </a:ln>
        </p:spPr>
      </p:sp>
      <p:pic>
        <p:nvPicPr>
          <p:cNvPr id="24" name="Image 4" descr="preencoded.png">    </p:cNvPr>
          <p:cNvPicPr>
            <a:picLocks noChangeAspect="1"/>
          </p:cNvPicPr>
          <p:nvPr/>
        </p:nvPicPr>
        <p:blipFill>
          <a:blip r:embed="rId5"/>
          <a:stretch>
            <a:fillRect/>
          </a:stretch>
        </p:blipFill>
        <p:spPr>
          <a:xfrm>
            <a:off x="3794760" y="3959352"/>
            <a:ext cx="475488" cy="475488"/>
          </a:xfrm>
          <a:prstGeom prst="rect">
            <a:avLst/>
          </a:prstGeom>
        </p:spPr>
      </p:pic>
      <p:sp>
        <p:nvSpPr>
          <p:cNvPr id="25" name="Text 18"/>
          <p:cNvSpPr/>
          <p:nvPr/>
        </p:nvSpPr>
        <p:spPr>
          <a:xfrm>
            <a:off x="4370832" y="3886200"/>
            <a:ext cx="4389120" cy="274320"/>
          </a:xfrm>
          <a:prstGeom prst="rect">
            <a:avLst/>
          </a:prstGeom>
          <a:noFill/>
          <a:ln/>
        </p:spPr>
        <p:txBody>
          <a:bodyPr wrap="square" lIns="0" tIns="0" rIns="0" bIns="0" rtlCol="0" anchor="ctr"/>
          <a:lstStyle/>
          <a:p>
            <a:pPr indent="0" marL="0">
              <a:buNone/>
            </a:pPr>
            <a:r>
              <a:rPr lang="en-US" sz="1300" b="1" dirty="0">
                <a:solidFill>
                  <a:srgbClr val="EDE9F8"/>
                </a:solidFill>
                <a:latin typeface="Calibri" pitchFamily="34" charset="0"/>
                <a:ea typeface="Calibri" pitchFamily="34" charset="-122"/>
                <a:cs typeface="Calibri" pitchFamily="34" charset="-120"/>
              </a:rPr>
              <a:t>Blood Biomarker Sensors</a:t>
            </a:r>
            <a:endParaRPr lang="en-US" sz="1300" dirty="0"/>
          </a:p>
        </p:txBody>
      </p:sp>
      <p:sp>
        <p:nvSpPr>
          <p:cNvPr id="26" name="Text 19"/>
          <p:cNvSpPr/>
          <p:nvPr/>
        </p:nvSpPr>
        <p:spPr>
          <a:xfrm>
            <a:off x="4370832" y="4178808"/>
            <a:ext cx="4389120" cy="41148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Continuous glucose &amp; hormone monitors. Menstrual cycle effects on readings often uncalibrated.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A0A0A"/>
          </a:solidFill>
          <a:ln w="12700">
            <a:solidFill>
              <a:srgbClr val="1A0A0A"/>
            </a:solidFill>
            <a:prstDash val="solid"/>
          </a:ln>
        </p:spPr>
      </p:sp>
      <p:sp>
        <p:nvSpPr>
          <p:cNvPr id="3" name="Shape 1"/>
          <p:cNvSpPr/>
          <p:nvPr/>
        </p:nvSpPr>
        <p:spPr>
          <a:xfrm>
            <a:off x="0" y="0"/>
            <a:ext cx="109728" cy="5143500"/>
          </a:xfrm>
          <a:prstGeom prst="rect">
            <a:avLst/>
          </a:prstGeom>
          <a:solidFill>
            <a:srgbClr val="FF4444"/>
          </a:solidFill>
          <a:ln w="12700">
            <a:solidFill>
              <a:srgbClr val="FF4444"/>
            </a:solidFill>
            <a:prstDash val="solid"/>
          </a:ln>
        </p:spPr>
      </p:sp>
      <p:sp>
        <p:nvSpPr>
          <p:cNvPr id="4" name="Text 2"/>
          <p:cNvSpPr/>
          <p:nvPr/>
        </p:nvSpPr>
        <p:spPr>
          <a:xfrm>
            <a:off x="274320" y="365760"/>
            <a:ext cx="3383280" cy="320040"/>
          </a:xfrm>
          <a:prstGeom prst="rect">
            <a:avLst/>
          </a:prstGeom>
          <a:noFill/>
          <a:ln/>
        </p:spPr>
        <p:txBody>
          <a:bodyPr wrap="square" rtlCol="0" anchor="ctr"/>
          <a:lstStyle/>
          <a:p>
            <a:pPr indent="0" marL="0">
              <a:buNone/>
            </a:pPr>
            <a:r>
              <a:rPr lang="en-US" sz="900" b="1" spc="300" kern="0" dirty="0">
                <a:solidFill>
                  <a:srgbClr val="FF4444"/>
                </a:solidFill>
                <a:latin typeface="Calibri" pitchFamily="34" charset="0"/>
                <a:ea typeface="Calibri" pitchFamily="34" charset="-122"/>
                <a:cs typeface="Calibri" pitchFamily="34" charset="-120"/>
              </a:rPr>
              <a:t>CASE 01  ·  CARDIAC CARE</a:t>
            </a:r>
            <a:endParaRPr lang="en-US" sz="900" dirty="0"/>
          </a:p>
        </p:txBody>
      </p:sp>
      <p:sp>
        <p:nvSpPr>
          <p:cNvPr id="5" name="Shape 3"/>
          <p:cNvSpPr/>
          <p:nvPr/>
        </p:nvSpPr>
        <p:spPr>
          <a:xfrm>
            <a:off x="502920" y="777240"/>
            <a:ext cx="1188720" cy="1188720"/>
          </a:xfrm>
          <a:prstGeom prst="ellipse">
            <a:avLst/>
          </a:prstGeom>
          <a:solidFill>
            <a:srgbClr val="E8536A"/>
          </a:solidFill>
          <a:ln w="12700">
            <a:solidFill>
              <a:srgbClr val="E8536A"/>
            </a:solidFill>
            <a:prstDash val="solid"/>
          </a:ln>
        </p:spPr>
      </p:sp>
      <p:sp>
        <p:nvSpPr>
          <p:cNvPr id="6" name="Text 4"/>
          <p:cNvSpPr/>
          <p:nvPr/>
        </p:nvSpPr>
        <p:spPr>
          <a:xfrm>
            <a:off x="502920" y="777240"/>
            <a:ext cx="1188720" cy="118872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7" name="Text 5"/>
          <p:cNvSpPr/>
          <p:nvPr/>
        </p:nvSpPr>
        <p:spPr>
          <a:xfrm>
            <a:off x="274320" y="2103120"/>
            <a:ext cx="3291840" cy="502920"/>
          </a:xfrm>
          <a:prstGeom prst="rect">
            <a:avLst/>
          </a:prstGeom>
          <a:noFill/>
          <a:ln/>
        </p:spPr>
        <p:txBody>
          <a:bodyPr wrap="square" rtlCol="0" anchor="ctr"/>
          <a:lstStyle/>
          <a:p>
            <a:pPr indent="0" marL="0">
              <a:buNone/>
            </a:pPr>
            <a:r>
              <a:rPr lang="en-US" sz="3400" b="1" dirty="0">
                <a:solidFill>
                  <a:srgbClr val="EDE9F8"/>
                </a:solidFill>
                <a:latin typeface="Georgia" pitchFamily="34" charset="0"/>
                <a:ea typeface="Georgia" pitchFamily="34" charset="-122"/>
                <a:cs typeface="Georgia" pitchFamily="34" charset="-120"/>
              </a:rPr>
              <a:t>Amara</a:t>
            </a:r>
            <a:endParaRPr lang="en-US" sz="3400" dirty="0"/>
          </a:p>
        </p:txBody>
      </p:sp>
      <p:sp>
        <p:nvSpPr>
          <p:cNvPr id="8" name="Text 6"/>
          <p:cNvSpPr/>
          <p:nvPr/>
        </p:nvSpPr>
        <p:spPr>
          <a:xfrm>
            <a:off x="274320" y="2606040"/>
            <a:ext cx="3291840" cy="320040"/>
          </a:xfrm>
          <a:prstGeom prst="rect">
            <a:avLst/>
          </a:prstGeom>
          <a:noFill/>
          <a:ln/>
        </p:spPr>
        <p:txBody>
          <a:bodyPr wrap="square" rtlCol="0" anchor="ctr"/>
          <a:lstStyle/>
          <a:p>
            <a:pPr indent="0" marL="0">
              <a:buNone/>
            </a:pPr>
            <a:r>
              <a:rPr lang="en-US" sz="1200" dirty="0">
                <a:solidFill>
                  <a:srgbClr val="8A8AAA"/>
                </a:solidFill>
                <a:latin typeface="Calibri" pitchFamily="34" charset="0"/>
                <a:ea typeface="Calibri" pitchFamily="34" charset="-122"/>
                <a:cs typeface="Calibri" pitchFamily="34" charset="-120"/>
              </a:rPr>
              <a:t>44 years old  ·  Nairobi</a:t>
            </a:r>
            <a:endParaRPr lang="en-US" sz="1200" dirty="0"/>
          </a:p>
        </p:txBody>
      </p:sp>
      <p:sp>
        <p:nvSpPr>
          <p:cNvPr id="9" name="Text 7"/>
          <p:cNvSpPr/>
          <p:nvPr/>
        </p:nvSpPr>
        <p:spPr>
          <a:xfrm>
            <a:off x="274320" y="3063240"/>
            <a:ext cx="3291840" cy="274320"/>
          </a:xfrm>
          <a:prstGeom prst="rect">
            <a:avLst/>
          </a:prstGeom>
          <a:noFill/>
          <a:ln/>
        </p:spPr>
        <p:txBody>
          <a:bodyPr wrap="square" rtlCol="0" anchor="ctr"/>
          <a:lstStyle/>
          <a:p>
            <a:pPr indent="0" marL="0">
              <a:buNone/>
            </a:pPr>
            <a:r>
              <a:rPr lang="en-US" sz="900" b="1" spc="200" kern="0" dirty="0">
                <a:solidFill>
                  <a:srgbClr val="8A8AAA"/>
                </a:solidFill>
                <a:latin typeface="Calibri" pitchFamily="34" charset="0"/>
                <a:ea typeface="Calibri" pitchFamily="34" charset="-122"/>
                <a:cs typeface="Calibri" pitchFamily="34" charset="-120"/>
              </a:rPr>
              <a:t>PRESENTING SYMPTOMS</a:t>
            </a:r>
            <a:endParaRPr lang="en-US" sz="900" dirty="0"/>
          </a:p>
        </p:txBody>
      </p:sp>
      <p:sp>
        <p:nvSpPr>
          <p:cNvPr id="10" name="Shape 8"/>
          <p:cNvSpPr/>
          <p:nvPr/>
        </p:nvSpPr>
        <p:spPr>
          <a:xfrm>
            <a:off x="292608" y="3429000"/>
            <a:ext cx="128016" cy="128016"/>
          </a:xfrm>
          <a:prstGeom prst="ellipse">
            <a:avLst/>
          </a:prstGeom>
          <a:solidFill>
            <a:srgbClr val="FF4444"/>
          </a:solidFill>
          <a:ln w="12700">
            <a:solidFill>
              <a:srgbClr val="FF4444"/>
            </a:solidFill>
            <a:prstDash val="solid"/>
          </a:ln>
        </p:spPr>
      </p:sp>
      <p:sp>
        <p:nvSpPr>
          <p:cNvPr id="11" name="Text 9"/>
          <p:cNvSpPr/>
          <p:nvPr/>
        </p:nvSpPr>
        <p:spPr>
          <a:xfrm>
            <a:off x="502920" y="3383280"/>
            <a:ext cx="2926080" cy="256032"/>
          </a:xfrm>
          <a:prstGeom prst="rect">
            <a:avLst/>
          </a:prstGeom>
          <a:noFill/>
          <a:ln/>
        </p:spPr>
        <p:txBody>
          <a:bodyPr wrap="square" rtlCol="0" anchor="ctr"/>
          <a:lstStyle/>
          <a:p>
            <a:pPr indent="0" marL="0">
              <a:buNone/>
            </a:pPr>
            <a:r>
              <a:rPr lang="en-US" sz="1150" dirty="0">
                <a:solidFill>
                  <a:srgbClr val="EDE9F8"/>
                </a:solidFill>
                <a:latin typeface="Calibri" pitchFamily="34" charset="0"/>
                <a:ea typeface="Calibri" pitchFamily="34" charset="-122"/>
                <a:cs typeface="Calibri" pitchFamily="34" charset="-120"/>
              </a:rPr>
              <a:t>Fatigue &amp; exhaustion</a:t>
            </a:r>
            <a:endParaRPr lang="en-US" sz="1150" dirty="0"/>
          </a:p>
        </p:txBody>
      </p:sp>
      <p:sp>
        <p:nvSpPr>
          <p:cNvPr id="12" name="Shape 10"/>
          <p:cNvSpPr/>
          <p:nvPr/>
        </p:nvSpPr>
        <p:spPr>
          <a:xfrm>
            <a:off x="292608" y="3730752"/>
            <a:ext cx="128016" cy="128016"/>
          </a:xfrm>
          <a:prstGeom prst="ellipse">
            <a:avLst/>
          </a:prstGeom>
          <a:solidFill>
            <a:srgbClr val="FF4444"/>
          </a:solidFill>
          <a:ln w="12700">
            <a:solidFill>
              <a:srgbClr val="FF4444"/>
            </a:solidFill>
            <a:prstDash val="solid"/>
          </a:ln>
        </p:spPr>
      </p:sp>
      <p:sp>
        <p:nvSpPr>
          <p:cNvPr id="13" name="Text 11"/>
          <p:cNvSpPr/>
          <p:nvPr/>
        </p:nvSpPr>
        <p:spPr>
          <a:xfrm>
            <a:off x="502920" y="3685032"/>
            <a:ext cx="2926080" cy="256032"/>
          </a:xfrm>
          <a:prstGeom prst="rect">
            <a:avLst/>
          </a:prstGeom>
          <a:noFill/>
          <a:ln/>
        </p:spPr>
        <p:txBody>
          <a:bodyPr wrap="square" rtlCol="0" anchor="ctr"/>
          <a:lstStyle/>
          <a:p>
            <a:pPr indent="0" marL="0">
              <a:buNone/>
            </a:pPr>
            <a:r>
              <a:rPr lang="en-US" sz="1150" dirty="0">
                <a:solidFill>
                  <a:srgbClr val="EDE9F8"/>
                </a:solidFill>
                <a:latin typeface="Calibri" pitchFamily="34" charset="0"/>
                <a:ea typeface="Calibri" pitchFamily="34" charset="-122"/>
                <a:cs typeface="Calibri" pitchFamily="34" charset="-120"/>
              </a:rPr>
              <a:t>Jaw pain</a:t>
            </a:r>
            <a:endParaRPr lang="en-US" sz="1150" dirty="0"/>
          </a:p>
        </p:txBody>
      </p:sp>
      <p:sp>
        <p:nvSpPr>
          <p:cNvPr id="14" name="Shape 12"/>
          <p:cNvSpPr/>
          <p:nvPr/>
        </p:nvSpPr>
        <p:spPr>
          <a:xfrm>
            <a:off x="292608" y="4032504"/>
            <a:ext cx="128016" cy="128016"/>
          </a:xfrm>
          <a:prstGeom prst="ellipse">
            <a:avLst/>
          </a:prstGeom>
          <a:solidFill>
            <a:srgbClr val="FF4444"/>
          </a:solidFill>
          <a:ln w="12700">
            <a:solidFill>
              <a:srgbClr val="FF4444"/>
            </a:solidFill>
            <a:prstDash val="solid"/>
          </a:ln>
        </p:spPr>
      </p:sp>
      <p:sp>
        <p:nvSpPr>
          <p:cNvPr id="15" name="Text 13"/>
          <p:cNvSpPr/>
          <p:nvPr/>
        </p:nvSpPr>
        <p:spPr>
          <a:xfrm>
            <a:off x="502920" y="3986784"/>
            <a:ext cx="2926080" cy="256032"/>
          </a:xfrm>
          <a:prstGeom prst="rect">
            <a:avLst/>
          </a:prstGeom>
          <a:noFill/>
          <a:ln/>
        </p:spPr>
        <p:txBody>
          <a:bodyPr wrap="square" rtlCol="0" anchor="ctr"/>
          <a:lstStyle/>
          <a:p>
            <a:pPr indent="0" marL="0">
              <a:buNone/>
            </a:pPr>
            <a:r>
              <a:rPr lang="en-US" sz="1150" dirty="0">
                <a:solidFill>
                  <a:srgbClr val="EDE9F8"/>
                </a:solidFill>
                <a:latin typeface="Calibri" pitchFamily="34" charset="0"/>
                <a:ea typeface="Calibri" pitchFamily="34" charset="-122"/>
                <a:cs typeface="Calibri" pitchFamily="34" charset="-120"/>
              </a:rPr>
              <a:t>Nausea</a:t>
            </a:r>
            <a:endParaRPr lang="en-US" sz="1150" dirty="0"/>
          </a:p>
        </p:txBody>
      </p:sp>
      <p:sp>
        <p:nvSpPr>
          <p:cNvPr id="16" name="Shape 14"/>
          <p:cNvSpPr/>
          <p:nvPr/>
        </p:nvSpPr>
        <p:spPr>
          <a:xfrm>
            <a:off x="292608" y="4334256"/>
            <a:ext cx="128016" cy="128016"/>
          </a:xfrm>
          <a:prstGeom prst="ellipse">
            <a:avLst/>
          </a:prstGeom>
          <a:solidFill>
            <a:srgbClr val="FF4444"/>
          </a:solidFill>
          <a:ln w="12700">
            <a:solidFill>
              <a:srgbClr val="FF4444"/>
            </a:solidFill>
            <a:prstDash val="solid"/>
          </a:ln>
        </p:spPr>
      </p:sp>
      <p:sp>
        <p:nvSpPr>
          <p:cNvPr id="17" name="Text 15"/>
          <p:cNvSpPr/>
          <p:nvPr/>
        </p:nvSpPr>
        <p:spPr>
          <a:xfrm>
            <a:off x="502920" y="4288536"/>
            <a:ext cx="2926080" cy="256032"/>
          </a:xfrm>
          <a:prstGeom prst="rect">
            <a:avLst/>
          </a:prstGeom>
          <a:noFill/>
          <a:ln/>
        </p:spPr>
        <p:txBody>
          <a:bodyPr wrap="square" rtlCol="0" anchor="ctr"/>
          <a:lstStyle/>
          <a:p>
            <a:pPr indent="0" marL="0">
              <a:buNone/>
            </a:pPr>
            <a:r>
              <a:rPr lang="en-US" sz="1150" dirty="0">
                <a:solidFill>
                  <a:srgbClr val="EDE9F8"/>
                </a:solidFill>
                <a:latin typeface="Calibri" pitchFamily="34" charset="0"/>
                <a:ea typeface="Calibri" pitchFamily="34" charset="-122"/>
                <a:cs typeface="Calibri" pitchFamily="34" charset="-120"/>
              </a:rPr>
              <a:t>Shortness of breath</a:t>
            </a:r>
            <a:endParaRPr lang="en-US" sz="1150" dirty="0"/>
          </a:p>
        </p:txBody>
      </p:sp>
      <p:sp>
        <p:nvSpPr>
          <p:cNvPr id="18" name="Shape 16"/>
          <p:cNvSpPr/>
          <p:nvPr/>
        </p:nvSpPr>
        <p:spPr>
          <a:xfrm>
            <a:off x="292608" y="4636008"/>
            <a:ext cx="128016" cy="128016"/>
          </a:xfrm>
          <a:prstGeom prst="ellipse">
            <a:avLst/>
          </a:prstGeom>
          <a:solidFill>
            <a:srgbClr val="8A8AAA"/>
          </a:solidFill>
          <a:ln w="12700">
            <a:solidFill>
              <a:srgbClr val="8A8AAA"/>
            </a:solidFill>
            <a:prstDash val="solid"/>
          </a:ln>
        </p:spPr>
      </p:sp>
      <p:sp>
        <p:nvSpPr>
          <p:cNvPr id="19" name="Text 17"/>
          <p:cNvSpPr/>
          <p:nvPr/>
        </p:nvSpPr>
        <p:spPr>
          <a:xfrm>
            <a:off x="502920" y="4590288"/>
            <a:ext cx="2926080" cy="256032"/>
          </a:xfrm>
          <a:prstGeom prst="rect">
            <a:avLst/>
          </a:prstGeom>
          <a:noFill/>
          <a:ln/>
        </p:spPr>
        <p:txBody>
          <a:bodyPr wrap="square" rtlCol="0" anchor="ctr"/>
          <a:lstStyle/>
          <a:p>
            <a:pPr indent="0" marL="0">
              <a:buNone/>
            </a:pPr>
            <a:r>
              <a:rPr lang="en-US" sz="1150" i="1" dirty="0">
                <a:solidFill>
                  <a:srgbClr val="8A8AAA"/>
                </a:solidFill>
                <a:latin typeface="Calibri" pitchFamily="34" charset="0"/>
                <a:ea typeface="Calibri" pitchFamily="34" charset="-122"/>
                <a:cs typeface="Calibri" pitchFamily="34" charset="-120"/>
              </a:rPr>
              <a:t>No chest pain</a:t>
            </a:r>
            <a:endParaRPr lang="en-US" sz="1150" dirty="0"/>
          </a:p>
        </p:txBody>
      </p:sp>
      <p:sp>
        <p:nvSpPr>
          <p:cNvPr id="20" name="Text 18"/>
          <p:cNvSpPr/>
          <p:nvPr/>
        </p:nvSpPr>
        <p:spPr>
          <a:xfrm>
            <a:off x="4114800" y="274320"/>
            <a:ext cx="4754880" cy="411480"/>
          </a:xfrm>
          <a:prstGeom prst="rect">
            <a:avLst/>
          </a:prstGeom>
          <a:noFill/>
          <a:ln/>
        </p:spPr>
        <p:txBody>
          <a:bodyPr wrap="square" rtlCol="0" anchor="ctr"/>
          <a:lstStyle/>
          <a:p>
            <a:pPr indent="0" marL="0">
              <a:buNone/>
            </a:pPr>
            <a:r>
              <a:rPr lang="en-US" sz="1800" i="1" dirty="0">
                <a:solidFill>
                  <a:srgbClr val="8A8AAA"/>
                </a:solidFill>
                <a:latin typeface="Georgia" pitchFamily="34" charset="0"/>
                <a:ea typeface="Georgia" pitchFamily="34" charset="-122"/>
                <a:cs typeface="Georgia" pitchFamily="34" charset="-120"/>
              </a:rPr>
              <a:t>The Monitor Said:</a:t>
            </a:r>
            <a:endParaRPr lang="en-US" sz="1800" dirty="0"/>
          </a:p>
        </p:txBody>
      </p:sp>
      <p:sp>
        <p:nvSpPr>
          <p:cNvPr id="21" name="Shape 19"/>
          <p:cNvSpPr/>
          <p:nvPr/>
        </p:nvSpPr>
        <p:spPr>
          <a:xfrm>
            <a:off x="4023360" y="777240"/>
            <a:ext cx="4846320" cy="1600200"/>
          </a:xfrm>
          <a:prstGeom prst="rect">
            <a:avLst/>
          </a:prstGeom>
          <a:solidFill>
            <a:srgbClr val="1A0808"/>
          </a:solidFill>
          <a:ln w="19050">
            <a:solidFill>
              <a:srgbClr val="FF4444"/>
            </a:solidFill>
            <a:prstDash val="solid"/>
          </a:ln>
        </p:spPr>
      </p:sp>
      <p:sp>
        <p:nvSpPr>
          <p:cNvPr id="22" name="Shape 20"/>
          <p:cNvSpPr/>
          <p:nvPr/>
        </p:nvSpPr>
        <p:spPr>
          <a:xfrm>
            <a:off x="4023360" y="777240"/>
            <a:ext cx="4846320" cy="64008"/>
          </a:xfrm>
          <a:prstGeom prst="rect">
            <a:avLst/>
          </a:prstGeom>
          <a:solidFill>
            <a:srgbClr val="FF4444"/>
          </a:solidFill>
          <a:ln w="12700">
            <a:solidFill>
              <a:srgbClr val="FF4444"/>
            </a:solidFill>
            <a:prstDash val="solid"/>
          </a:ln>
        </p:spPr>
      </p:sp>
      <p:pic>
        <p:nvPicPr>
          <p:cNvPr id="23" name="Image 0" descr="preencoded.png">    </p:cNvPr>
          <p:cNvPicPr>
            <a:picLocks noChangeAspect="1"/>
          </p:cNvPicPr>
          <p:nvPr/>
        </p:nvPicPr>
        <p:blipFill>
          <a:blip r:embed="rId1"/>
          <a:stretch>
            <a:fillRect/>
          </a:stretch>
        </p:blipFill>
        <p:spPr>
          <a:xfrm>
            <a:off x="4206240" y="914400"/>
            <a:ext cx="457200" cy="457200"/>
          </a:xfrm>
          <a:prstGeom prst="rect">
            <a:avLst/>
          </a:prstGeom>
        </p:spPr>
      </p:pic>
      <p:sp>
        <p:nvSpPr>
          <p:cNvPr id="24" name="Text 21"/>
          <p:cNvSpPr/>
          <p:nvPr/>
        </p:nvSpPr>
        <p:spPr>
          <a:xfrm>
            <a:off x="4754880" y="886968"/>
            <a:ext cx="3931920" cy="320040"/>
          </a:xfrm>
          <a:prstGeom prst="rect">
            <a:avLst/>
          </a:prstGeom>
          <a:noFill/>
          <a:ln/>
        </p:spPr>
        <p:txBody>
          <a:bodyPr wrap="square" lIns="0" tIns="0" rIns="0" bIns="0" rtlCol="0" anchor="ctr"/>
          <a:lstStyle/>
          <a:p>
            <a:pPr indent="0" marL="0">
              <a:buNone/>
            </a:pPr>
            <a:r>
              <a:rPr lang="en-US" sz="1000" b="1" spc="200" kern="0" dirty="0">
                <a:solidFill>
                  <a:srgbClr val="FF4444"/>
                </a:solidFill>
                <a:latin typeface="Calibri" pitchFamily="34" charset="0"/>
                <a:ea typeface="Calibri" pitchFamily="34" charset="-122"/>
                <a:cs typeface="Calibri" pitchFamily="34" charset="-120"/>
              </a:rPr>
              <a:t>WRONG DIAGNOSIS</a:t>
            </a:r>
            <a:endParaRPr lang="en-US" sz="1000" dirty="0"/>
          </a:p>
        </p:txBody>
      </p:sp>
      <p:sp>
        <p:nvSpPr>
          <p:cNvPr id="25" name="Text 22"/>
          <p:cNvSpPr/>
          <p:nvPr/>
        </p:nvSpPr>
        <p:spPr>
          <a:xfrm>
            <a:off x="4114800" y="1325880"/>
            <a:ext cx="4754880" cy="502920"/>
          </a:xfrm>
          <a:prstGeom prst="rect">
            <a:avLst/>
          </a:prstGeom>
          <a:noFill/>
          <a:ln/>
        </p:spPr>
        <p:txBody>
          <a:bodyPr wrap="square" rtlCol="0" anchor="ctr"/>
          <a:lstStyle/>
          <a:p>
            <a:pPr algn="ctr" indent="0" marL="0">
              <a:buNone/>
            </a:pPr>
            <a:r>
              <a:rPr lang="en-US" sz="2800" b="1" dirty="0">
                <a:solidFill>
                  <a:srgbClr val="FF4444"/>
                </a:solidFill>
                <a:latin typeface="Georgia" pitchFamily="34" charset="0"/>
                <a:ea typeface="Georgia" pitchFamily="34" charset="-122"/>
                <a:cs typeface="Georgia" pitchFamily="34" charset="-120"/>
              </a:rPr>
              <a:t>Anxiety Disorder</a:t>
            </a:r>
            <a:endParaRPr lang="en-US" sz="2800" dirty="0"/>
          </a:p>
        </p:txBody>
      </p:sp>
      <p:sp>
        <p:nvSpPr>
          <p:cNvPr id="26" name="Text 23"/>
          <p:cNvSpPr/>
          <p:nvPr/>
        </p:nvSpPr>
        <p:spPr>
          <a:xfrm>
            <a:off x="4114800" y="1828800"/>
            <a:ext cx="4754880" cy="457200"/>
          </a:xfrm>
          <a:prstGeom prst="rect">
            <a:avLst/>
          </a:prstGeom>
          <a:noFill/>
          <a:ln/>
        </p:spPr>
        <p:txBody>
          <a:bodyPr wrap="square" rtlCol="0" anchor="ctr"/>
          <a:lstStyle/>
          <a:p>
            <a:pPr algn="ctr" indent="0" marL="0">
              <a:buNone/>
            </a:pPr>
            <a:r>
              <a:rPr lang="en-US" sz="1100" dirty="0">
                <a:solidFill>
                  <a:srgbClr val="8A8AAA"/>
                </a:solidFill>
                <a:latin typeface="Calibri" pitchFamily="34" charset="0"/>
                <a:ea typeface="Calibri" pitchFamily="34" charset="-122"/>
                <a:cs typeface="Calibri" pitchFamily="34" charset="-120"/>
              </a:rPr>
              <a:t>Sent home with antidepressants.</a:t>
            </a:r>
            <a:endParaRPr lang="en-US" sz="1100" dirty="0"/>
          </a:p>
          <a:p>
            <a:pPr algn="ctr" indent="0" marL="0">
              <a:buNone/>
            </a:pPr>
            <a:r>
              <a:rPr lang="en-US" sz="1100" dirty="0">
                <a:solidFill>
                  <a:srgbClr val="8A8AAA"/>
                </a:solidFill>
                <a:latin typeface="Calibri" pitchFamily="34" charset="0"/>
                <a:ea typeface="Calibri" pitchFamily="34" charset="-122"/>
                <a:cs typeface="Calibri" pitchFamily="34" charset="-120"/>
              </a:rPr>
              <a:t>Troponin flagged NORMAL — using male reference ranges.</a:t>
            </a:r>
            <a:endParaRPr lang="en-US" sz="1100" dirty="0"/>
          </a:p>
        </p:txBody>
      </p:sp>
      <p:sp>
        <p:nvSpPr>
          <p:cNvPr id="27" name="Shape 24"/>
          <p:cNvSpPr/>
          <p:nvPr/>
        </p:nvSpPr>
        <p:spPr>
          <a:xfrm>
            <a:off x="4023360" y="2514600"/>
            <a:ext cx="4846320" cy="1188720"/>
          </a:xfrm>
          <a:prstGeom prst="rect">
            <a:avLst/>
          </a:prstGeom>
          <a:solidFill>
            <a:srgbClr val="1A1A28"/>
          </a:solidFill>
          <a:ln w="12700">
            <a:solidFill>
              <a:srgbClr val="2A2A3A"/>
            </a:solidFill>
            <a:prstDash val="solid"/>
          </a:ln>
        </p:spPr>
      </p:sp>
      <p:sp>
        <p:nvSpPr>
          <p:cNvPr id="28" name="Text 25"/>
          <p:cNvSpPr/>
          <p:nvPr/>
        </p:nvSpPr>
        <p:spPr>
          <a:xfrm>
            <a:off x="4206240" y="2606040"/>
            <a:ext cx="4572000" cy="274320"/>
          </a:xfrm>
          <a:prstGeom prst="rect">
            <a:avLst/>
          </a:prstGeom>
          <a:noFill/>
          <a:ln/>
        </p:spPr>
        <p:txBody>
          <a:bodyPr wrap="square" rtlCol="0" anchor="ctr"/>
          <a:lstStyle/>
          <a:p>
            <a:pPr indent="0" marL="0">
              <a:buNone/>
            </a:pPr>
            <a:r>
              <a:rPr lang="en-US" sz="1000" b="1" spc="200" kern="0" dirty="0">
                <a:solidFill>
                  <a:srgbClr val="F4C67A"/>
                </a:solidFill>
                <a:latin typeface="Calibri" pitchFamily="34" charset="0"/>
                <a:ea typeface="Calibri" pitchFamily="34" charset="-122"/>
                <a:cs typeface="Calibri" pitchFamily="34" charset="-120"/>
              </a:rPr>
              <a:t>THE BIAS:</a:t>
            </a:r>
            <a:endParaRPr lang="en-US" sz="1000" dirty="0"/>
          </a:p>
        </p:txBody>
      </p:sp>
      <p:sp>
        <p:nvSpPr>
          <p:cNvPr id="29" name="Text 26"/>
          <p:cNvSpPr/>
          <p:nvPr/>
        </p:nvSpPr>
        <p:spPr>
          <a:xfrm>
            <a:off x="4206240" y="2907792"/>
            <a:ext cx="4572000" cy="731520"/>
          </a:xfrm>
          <a:prstGeom prst="rect">
            <a:avLst/>
          </a:prstGeom>
          <a:noFill/>
          <a:ln/>
        </p:spPr>
        <p:txBody>
          <a:bodyPr wrap="square" rtlCol="0" anchor="ctr"/>
          <a:lstStyle/>
          <a:p>
            <a:pPr indent="0" marL="0">
              <a:buNone/>
            </a:pPr>
            <a:r>
              <a:rPr lang="en-US" sz="1100" dirty="0">
                <a:solidFill>
                  <a:srgbClr val="EDE9F8"/>
                </a:solidFill>
                <a:latin typeface="Calibri" pitchFamily="34" charset="0"/>
                <a:ea typeface="Calibri" pitchFamily="34" charset="-122"/>
                <a:cs typeface="Calibri" pitchFamily="34" charset="-120"/>
              </a:rPr>
              <a:t>Women's hearts produce less troponin (a cardiac protein). The IoT monitor's "normal" threshold was calibrated on men — so Amara's elevated-for-women reading appeared safe. Heart attacks in women also present with jaw pain, nausea and fatigue — not the classic male chest-crushing pain the algorithm was trained to flag.</a:t>
            </a:r>
            <a:endParaRPr lang="en-US" sz="1100" dirty="0"/>
          </a:p>
        </p:txBody>
      </p:sp>
      <p:sp>
        <p:nvSpPr>
          <p:cNvPr id="30" name="Shape 27"/>
          <p:cNvSpPr/>
          <p:nvPr/>
        </p:nvSpPr>
        <p:spPr>
          <a:xfrm>
            <a:off x="4023360" y="3840480"/>
            <a:ext cx="4846320" cy="777240"/>
          </a:xfrm>
          <a:prstGeom prst="rect">
            <a:avLst/>
          </a:prstGeom>
          <a:solidFill>
            <a:srgbClr val="1C1520"/>
          </a:solidFill>
          <a:ln w="12700">
            <a:solidFill>
              <a:srgbClr val="E8536A"/>
            </a:solidFill>
            <a:prstDash val="solid"/>
          </a:ln>
        </p:spPr>
      </p:sp>
      <p:sp>
        <p:nvSpPr>
          <p:cNvPr id="31" name="Text 28"/>
          <p:cNvSpPr/>
          <p:nvPr/>
        </p:nvSpPr>
        <p:spPr>
          <a:xfrm>
            <a:off x="4206240" y="3931920"/>
            <a:ext cx="4572000" cy="594360"/>
          </a:xfrm>
          <a:prstGeom prst="rect">
            <a:avLst/>
          </a:prstGeom>
          <a:noFill/>
          <a:ln/>
        </p:spPr>
        <p:txBody>
          <a:bodyPr wrap="square" rtlCol="0" anchor="ctr"/>
          <a:lstStyle/>
          <a:p>
            <a:pPr indent="0" marL="0">
              <a:buNone/>
            </a:pPr>
            <a:r>
              <a:rPr lang="en-US" sz="1350" i="1" dirty="0">
                <a:solidFill>
                  <a:srgbClr val="E8536A"/>
                </a:solidFill>
                <a:latin typeface="Georgia" pitchFamily="34" charset="0"/>
                <a:ea typeface="Georgia" pitchFamily="34" charset="-122"/>
                <a:cs typeface="Georgia" pitchFamily="34" charset="-120"/>
              </a:rPr>
              <a:t>Women are 50% more likely to be misdiagnosed after a heart attack.</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4C67A"/>
          </a:solidFill>
          <a:ln w="12700">
            <a:solidFill>
              <a:srgbClr val="F4C67A"/>
            </a:solidFill>
            <a:prstDash val="solid"/>
          </a:ln>
        </p:spPr>
      </p:sp>
      <p:sp>
        <p:nvSpPr>
          <p:cNvPr id="3" name="Text 1"/>
          <p:cNvSpPr/>
          <p:nvPr/>
        </p:nvSpPr>
        <p:spPr>
          <a:xfrm>
            <a:off x="457200" y="228600"/>
            <a:ext cx="8229600" cy="320040"/>
          </a:xfrm>
          <a:prstGeom prst="rect">
            <a:avLst/>
          </a:prstGeom>
          <a:noFill/>
          <a:ln/>
        </p:spPr>
        <p:txBody>
          <a:bodyPr wrap="square" rtlCol="0" anchor="ctr"/>
          <a:lstStyle/>
          <a:p>
            <a:pPr indent="0" marL="0">
              <a:buNone/>
            </a:pPr>
            <a:r>
              <a:rPr lang="en-US" sz="900" b="1" spc="300" kern="0" dirty="0">
                <a:solidFill>
                  <a:srgbClr val="F4C67A"/>
                </a:solidFill>
                <a:latin typeface="Calibri" pitchFamily="34" charset="0"/>
                <a:ea typeface="Calibri" pitchFamily="34" charset="-122"/>
                <a:cs typeface="Calibri" pitchFamily="34" charset="-120"/>
              </a:rPr>
              <a:t>CASE 02  ·  BONE HEALTH &amp; WEARABLES</a:t>
            </a:r>
            <a:endParaRPr lang="en-US" sz="900" dirty="0"/>
          </a:p>
        </p:txBody>
      </p:sp>
      <p:sp>
        <p:nvSpPr>
          <p:cNvPr id="4" name="Text 2"/>
          <p:cNvSpPr/>
          <p:nvPr/>
        </p:nvSpPr>
        <p:spPr>
          <a:xfrm>
            <a:off x="365760" y="640080"/>
            <a:ext cx="4114800" cy="685800"/>
          </a:xfrm>
          <a:prstGeom prst="rect">
            <a:avLst/>
          </a:prstGeom>
          <a:noFill/>
          <a:ln/>
        </p:spPr>
        <p:txBody>
          <a:bodyPr wrap="square" rtlCol="0" anchor="ctr"/>
          <a:lstStyle/>
          <a:p>
            <a:pPr indent="0" marL="0">
              <a:buNone/>
            </a:pPr>
            <a:r>
              <a:rPr lang="en-US" sz="4400" b="1" dirty="0">
                <a:solidFill>
                  <a:srgbClr val="EDE9F8"/>
                </a:solidFill>
                <a:latin typeface="Georgia" pitchFamily="34" charset="0"/>
                <a:ea typeface="Georgia" pitchFamily="34" charset="-122"/>
                <a:cs typeface="Georgia" pitchFamily="34" charset="-120"/>
              </a:rPr>
              <a:t>Fatima</a:t>
            </a:r>
            <a:endParaRPr lang="en-US" sz="4400" dirty="0"/>
          </a:p>
        </p:txBody>
      </p:sp>
      <p:sp>
        <p:nvSpPr>
          <p:cNvPr id="5" name="Text 3"/>
          <p:cNvSpPr/>
          <p:nvPr/>
        </p:nvSpPr>
        <p:spPr>
          <a:xfrm>
            <a:off x="365760" y="1325880"/>
            <a:ext cx="4114800" cy="320040"/>
          </a:xfrm>
          <a:prstGeom prst="rect">
            <a:avLst/>
          </a:prstGeom>
          <a:noFill/>
          <a:ln/>
        </p:spPr>
        <p:txBody>
          <a:bodyPr wrap="square" rtlCol="0" anchor="ctr"/>
          <a:lstStyle/>
          <a:p>
            <a:pPr indent="0" marL="0">
              <a:buNone/>
            </a:pPr>
            <a:r>
              <a:rPr lang="en-US" sz="1200" dirty="0">
                <a:solidFill>
                  <a:srgbClr val="8A8AAA"/>
                </a:solidFill>
                <a:latin typeface="Calibri" pitchFamily="34" charset="0"/>
                <a:ea typeface="Calibri" pitchFamily="34" charset="-122"/>
                <a:cs typeface="Calibri" pitchFamily="34" charset="-120"/>
              </a:rPr>
              <a:t>52 years old  ·  Mombasa  ·  Post-menopausal</a:t>
            </a:r>
            <a:endParaRPr lang="en-US" sz="1200" dirty="0"/>
          </a:p>
        </p:txBody>
      </p:sp>
      <p:sp>
        <p:nvSpPr>
          <p:cNvPr id="6" name="Shape 4"/>
          <p:cNvSpPr/>
          <p:nvPr/>
        </p:nvSpPr>
        <p:spPr>
          <a:xfrm>
            <a:off x="365760" y="1737360"/>
            <a:ext cx="1097280" cy="1097280"/>
          </a:xfrm>
          <a:prstGeom prst="ellipse">
            <a:avLst/>
          </a:prstGeom>
          <a:solidFill>
            <a:srgbClr val="1A1508"/>
          </a:solidFill>
          <a:ln w="25400">
            <a:solidFill>
              <a:srgbClr val="F4C67A"/>
            </a:solidFill>
            <a:prstDash val="solid"/>
          </a:ln>
        </p:spPr>
      </p:sp>
      <p:sp>
        <p:nvSpPr>
          <p:cNvPr id="7" name="Text 5"/>
          <p:cNvSpPr/>
          <p:nvPr/>
        </p:nvSpPr>
        <p:spPr>
          <a:xfrm>
            <a:off x="365760" y="1737360"/>
            <a:ext cx="1097280" cy="109728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8" name="Text 6"/>
          <p:cNvSpPr/>
          <p:nvPr/>
        </p:nvSpPr>
        <p:spPr>
          <a:xfrm>
            <a:off x="365760" y="2926080"/>
            <a:ext cx="4114800" cy="777240"/>
          </a:xfrm>
          <a:prstGeom prst="rect">
            <a:avLst/>
          </a:prstGeom>
          <a:noFill/>
          <a:ln/>
        </p:spPr>
        <p:txBody>
          <a:bodyPr wrap="square" rtlCol="0" anchor="ctr"/>
          <a:lstStyle/>
          <a:p>
            <a:pPr indent="0" marL="0">
              <a:buNone/>
            </a:pPr>
            <a:r>
              <a:rPr lang="en-US" sz="1400" i="1" dirty="0">
                <a:solidFill>
                  <a:srgbClr val="EDE9F8"/>
                </a:solidFill>
                <a:latin typeface="Calibri" pitchFamily="34" charset="0"/>
                <a:ea typeface="Calibri" pitchFamily="34" charset="-122"/>
                <a:cs typeface="Calibri" pitchFamily="34" charset="-120"/>
              </a:rPr>
              <a:t>Fatima wore a bone-density wearable for 6 months. It never triggered a single alert. Then she broke her wrist in a minor fall.</a:t>
            </a:r>
            <a:endParaRPr lang="en-US" sz="1400" dirty="0"/>
          </a:p>
        </p:txBody>
      </p:sp>
      <p:pic>
        <p:nvPicPr>
          <p:cNvPr id="9" name="Image 0" descr="preencoded.png">    </p:cNvPr>
          <p:cNvPicPr>
            <a:picLocks noChangeAspect="1"/>
          </p:cNvPicPr>
          <p:nvPr/>
        </p:nvPicPr>
        <p:blipFill>
          <a:blip r:embed="rId1"/>
          <a:stretch>
            <a:fillRect/>
          </a:stretch>
        </p:blipFill>
        <p:spPr>
          <a:xfrm>
            <a:off x="365760" y="3794760"/>
            <a:ext cx="502920" cy="502920"/>
          </a:xfrm>
          <a:prstGeom prst="rect">
            <a:avLst/>
          </a:prstGeom>
        </p:spPr>
      </p:pic>
      <p:sp>
        <p:nvSpPr>
          <p:cNvPr id="10" name="Text 7"/>
          <p:cNvSpPr/>
          <p:nvPr/>
        </p:nvSpPr>
        <p:spPr>
          <a:xfrm>
            <a:off x="960120" y="3840480"/>
            <a:ext cx="3474720" cy="457200"/>
          </a:xfrm>
          <a:prstGeom prst="rect">
            <a:avLst/>
          </a:prstGeom>
          <a:noFill/>
          <a:ln/>
        </p:spPr>
        <p:txBody>
          <a:bodyPr wrap="square" lIns="0" tIns="0" rIns="0" bIns="0" rtlCol="0" anchor="ctr"/>
          <a:lstStyle/>
          <a:p>
            <a:pPr indent="0" marL="0">
              <a:buNone/>
            </a:pPr>
            <a:r>
              <a:rPr lang="en-US" sz="1200" b="1" dirty="0">
                <a:solidFill>
                  <a:srgbClr val="F4C67A"/>
                </a:solidFill>
                <a:latin typeface="Calibri" pitchFamily="34" charset="0"/>
                <a:ea typeface="Calibri" pitchFamily="34" charset="-122"/>
                <a:cs typeface="Calibri" pitchFamily="34" charset="-120"/>
              </a:rPr>
              <a:t>Her T-score: -2.4   |   Male alert threshold: -2.5</a:t>
            </a:r>
            <a:endParaRPr lang="en-US" sz="1200" dirty="0"/>
          </a:p>
        </p:txBody>
      </p:sp>
      <p:sp>
        <p:nvSpPr>
          <p:cNvPr id="11" name="Shape 8"/>
          <p:cNvSpPr/>
          <p:nvPr/>
        </p:nvSpPr>
        <p:spPr>
          <a:xfrm>
            <a:off x="4572000" y="182880"/>
            <a:ext cx="36576" cy="4754880"/>
          </a:xfrm>
          <a:prstGeom prst="rect">
            <a:avLst/>
          </a:prstGeom>
          <a:solidFill>
            <a:srgbClr val="2A2A3A"/>
          </a:solidFill>
          <a:ln w="12700">
            <a:solidFill>
              <a:srgbClr val="2A2A3A"/>
            </a:solidFill>
            <a:prstDash val="solid"/>
          </a:ln>
        </p:spPr>
      </p:sp>
      <p:sp>
        <p:nvSpPr>
          <p:cNvPr id="12" name="Text 9"/>
          <p:cNvSpPr/>
          <p:nvPr/>
        </p:nvSpPr>
        <p:spPr>
          <a:xfrm>
            <a:off x="4846320" y="594360"/>
            <a:ext cx="4023360" cy="594360"/>
          </a:xfrm>
          <a:prstGeom prst="rect">
            <a:avLst/>
          </a:prstGeom>
          <a:noFill/>
          <a:ln/>
        </p:spPr>
        <p:txBody>
          <a:bodyPr wrap="square" rtlCol="0" anchor="ctr"/>
          <a:lstStyle/>
          <a:p>
            <a:pPr indent="0" marL="0">
              <a:buNone/>
            </a:pPr>
            <a:r>
              <a:rPr lang="en-US" sz="1800" b="1" dirty="0">
                <a:solidFill>
                  <a:srgbClr val="EDE9F8"/>
                </a:solidFill>
                <a:latin typeface="Georgia" pitchFamily="34" charset="0"/>
                <a:ea typeface="Georgia" pitchFamily="34" charset="-122"/>
                <a:cs typeface="Georgia" pitchFamily="34" charset="-120"/>
              </a:rPr>
              <a:t>Why Wearables Miss Osteoporosis in Women</a:t>
            </a:r>
            <a:endParaRPr lang="en-US" sz="1800" dirty="0"/>
          </a:p>
        </p:txBody>
      </p:sp>
      <p:sp>
        <p:nvSpPr>
          <p:cNvPr id="13" name="Shape 10"/>
          <p:cNvSpPr/>
          <p:nvPr/>
        </p:nvSpPr>
        <p:spPr>
          <a:xfrm>
            <a:off x="4846320" y="1325880"/>
            <a:ext cx="3977640" cy="1051560"/>
          </a:xfrm>
          <a:prstGeom prst="rect">
            <a:avLst/>
          </a:prstGeom>
          <a:solidFill>
            <a:srgbClr val="1A1A28"/>
          </a:solidFill>
          <a:ln w="12700">
            <a:solidFill>
              <a:srgbClr val="2A2A3A"/>
            </a:solidFill>
            <a:prstDash val="solid"/>
          </a:ln>
        </p:spPr>
      </p:sp>
      <p:pic>
        <p:nvPicPr>
          <p:cNvPr id="14" name="Image 1" descr="preencoded.png">    </p:cNvPr>
          <p:cNvPicPr>
            <a:picLocks noChangeAspect="1"/>
          </p:cNvPicPr>
          <p:nvPr/>
        </p:nvPicPr>
        <p:blipFill>
          <a:blip r:embed="rId2"/>
          <a:stretch>
            <a:fillRect/>
          </a:stretch>
        </p:blipFill>
        <p:spPr>
          <a:xfrm>
            <a:off x="4983480" y="1581912"/>
            <a:ext cx="438912" cy="438912"/>
          </a:xfrm>
          <a:prstGeom prst="rect">
            <a:avLst/>
          </a:prstGeom>
        </p:spPr>
      </p:pic>
      <p:sp>
        <p:nvSpPr>
          <p:cNvPr id="15" name="Text 11"/>
          <p:cNvSpPr/>
          <p:nvPr/>
        </p:nvSpPr>
        <p:spPr>
          <a:xfrm>
            <a:off x="5532120" y="1417320"/>
            <a:ext cx="3200400" cy="292608"/>
          </a:xfrm>
          <a:prstGeom prst="rect">
            <a:avLst/>
          </a:prstGeom>
          <a:noFill/>
          <a:ln/>
        </p:spPr>
        <p:txBody>
          <a:bodyPr wrap="square" lIns="0" tIns="0" rIns="0" bIns="0" rtlCol="0" anchor="ctr"/>
          <a:lstStyle/>
          <a:p>
            <a:pPr indent="0" marL="0">
              <a:buNone/>
            </a:pPr>
            <a:r>
              <a:rPr lang="en-US" sz="1200" b="1" dirty="0">
                <a:solidFill>
                  <a:srgbClr val="FF4444"/>
                </a:solidFill>
                <a:latin typeface="Calibri" pitchFamily="34" charset="0"/>
                <a:ea typeface="Calibri" pitchFamily="34" charset="-122"/>
                <a:cs typeface="Calibri" pitchFamily="34" charset="-120"/>
              </a:rPr>
              <a:t>Male Default Threshold</a:t>
            </a:r>
            <a:endParaRPr lang="en-US" sz="1200" dirty="0"/>
          </a:p>
        </p:txBody>
      </p:sp>
      <p:sp>
        <p:nvSpPr>
          <p:cNvPr id="16" name="Text 12"/>
          <p:cNvSpPr/>
          <p:nvPr/>
        </p:nvSpPr>
        <p:spPr>
          <a:xfrm>
            <a:off x="5532120" y="1719072"/>
            <a:ext cx="3200400" cy="59436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The WHO T-score threshold of -2.5 for osteoporosis was defined using male bone density data from the 1990s.</a:t>
            </a:r>
            <a:endParaRPr lang="en-US" sz="1050" dirty="0"/>
          </a:p>
        </p:txBody>
      </p:sp>
      <p:sp>
        <p:nvSpPr>
          <p:cNvPr id="17" name="Shape 13"/>
          <p:cNvSpPr/>
          <p:nvPr/>
        </p:nvSpPr>
        <p:spPr>
          <a:xfrm>
            <a:off x="4846320" y="2514600"/>
            <a:ext cx="3977640" cy="1051560"/>
          </a:xfrm>
          <a:prstGeom prst="rect">
            <a:avLst/>
          </a:prstGeom>
          <a:solidFill>
            <a:srgbClr val="1A1A28"/>
          </a:solidFill>
          <a:ln w="12700">
            <a:solidFill>
              <a:srgbClr val="2A2A3A"/>
            </a:solidFill>
            <a:prstDash val="solid"/>
          </a:ln>
        </p:spPr>
      </p:sp>
      <p:pic>
        <p:nvPicPr>
          <p:cNvPr id="18" name="Image 2" descr="preencoded.png">    </p:cNvPr>
          <p:cNvPicPr>
            <a:picLocks noChangeAspect="1"/>
          </p:cNvPicPr>
          <p:nvPr/>
        </p:nvPicPr>
        <p:blipFill>
          <a:blip r:embed="rId3"/>
          <a:stretch>
            <a:fillRect/>
          </a:stretch>
        </p:blipFill>
        <p:spPr>
          <a:xfrm>
            <a:off x="4983480" y="2770632"/>
            <a:ext cx="438912" cy="438912"/>
          </a:xfrm>
          <a:prstGeom prst="rect">
            <a:avLst/>
          </a:prstGeom>
        </p:spPr>
      </p:pic>
      <p:sp>
        <p:nvSpPr>
          <p:cNvPr id="19" name="Text 14"/>
          <p:cNvSpPr/>
          <p:nvPr/>
        </p:nvSpPr>
        <p:spPr>
          <a:xfrm>
            <a:off x="5532120" y="2606040"/>
            <a:ext cx="3200400" cy="292608"/>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Women Lose Bone Differently</a:t>
            </a:r>
            <a:endParaRPr lang="en-US" sz="1200" dirty="0"/>
          </a:p>
        </p:txBody>
      </p:sp>
      <p:sp>
        <p:nvSpPr>
          <p:cNvPr id="20" name="Text 15"/>
          <p:cNvSpPr/>
          <p:nvPr/>
        </p:nvSpPr>
        <p:spPr>
          <a:xfrm>
            <a:off x="5532120" y="2907792"/>
            <a:ext cx="3200400" cy="59436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Post-menopausal women lose bone 3–5x faster due to estrogen decline. The curve is steeper and starts earlier.</a:t>
            </a:r>
            <a:endParaRPr lang="en-US" sz="1050" dirty="0"/>
          </a:p>
        </p:txBody>
      </p:sp>
      <p:sp>
        <p:nvSpPr>
          <p:cNvPr id="21" name="Shape 16"/>
          <p:cNvSpPr/>
          <p:nvPr/>
        </p:nvSpPr>
        <p:spPr>
          <a:xfrm>
            <a:off x="4846320" y="3703320"/>
            <a:ext cx="3977640" cy="1051560"/>
          </a:xfrm>
          <a:prstGeom prst="rect">
            <a:avLst/>
          </a:prstGeom>
          <a:solidFill>
            <a:srgbClr val="1A1A28"/>
          </a:solidFill>
          <a:ln w="12700">
            <a:solidFill>
              <a:srgbClr val="2A2A3A"/>
            </a:solidFill>
            <a:prstDash val="solid"/>
          </a:ln>
        </p:spPr>
      </p:sp>
      <p:pic>
        <p:nvPicPr>
          <p:cNvPr id="22" name="Image 3" descr="preencoded.png">    </p:cNvPr>
          <p:cNvPicPr>
            <a:picLocks noChangeAspect="1"/>
          </p:cNvPicPr>
          <p:nvPr/>
        </p:nvPicPr>
        <p:blipFill>
          <a:blip r:embed="rId4"/>
          <a:stretch>
            <a:fillRect/>
          </a:stretch>
        </p:blipFill>
        <p:spPr>
          <a:xfrm>
            <a:off x="4983480" y="3959352"/>
            <a:ext cx="438912" cy="438912"/>
          </a:xfrm>
          <a:prstGeom prst="rect">
            <a:avLst/>
          </a:prstGeom>
        </p:spPr>
      </p:pic>
      <p:sp>
        <p:nvSpPr>
          <p:cNvPr id="23" name="Text 17"/>
          <p:cNvSpPr/>
          <p:nvPr/>
        </p:nvSpPr>
        <p:spPr>
          <a:xfrm>
            <a:off x="5532120" y="3794760"/>
            <a:ext cx="3200400" cy="292608"/>
          </a:xfrm>
          <a:prstGeom prst="rect">
            <a:avLst/>
          </a:prstGeom>
          <a:noFill/>
          <a:ln/>
        </p:spPr>
        <p:txBody>
          <a:bodyPr wrap="square" lIns="0" tIns="0" rIns="0" bIns="0" rtlCol="0" anchor="ctr"/>
          <a:lstStyle/>
          <a:p>
            <a:pPr indent="0" marL="0">
              <a:buNone/>
            </a:pPr>
            <a:r>
              <a:rPr lang="en-US" sz="1200" b="1" dirty="0">
                <a:solidFill>
                  <a:srgbClr val="44DD88"/>
                </a:solidFill>
                <a:latin typeface="Calibri" pitchFamily="34" charset="0"/>
                <a:ea typeface="Calibri" pitchFamily="34" charset="-122"/>
                <a:cs typeface="Calibri" pitchFamily="34" charset="-120"/>
              </a:rPr>
              <a:t>The Fix</a:t>
            </a:r>
            <a:endParaRPr lang="en-US" sz="1200" dirty="0"/>
          </a:p>
        </p:txBody>
      </p:sp>
      <p:sp>
        <p:nvSpPr>
          <p:cNvPr id="24" name="Text 18"/>
          <p:cNvSpPr/>
          <p:nvPr/>
        </p:nvSpPr>
        <p:spPr>
          <a:xfrm>
            <a:off x="5532120" y="4096512"/>
            <a:ext cx="3200400" cy="594360"/>
          </a:xfrm>
          <a:prstGeom prst="rect">
            <a:avLst/>
          </a:prstGeom>
          <a:noFill/>
          <a:ln/>
        </p:spPr>
        <p:txBody>
          <a:bodyPr wrap="square" lIns="0" tIns="0" rIns="0" bIns="0" rtlCol="0" anchor="ctr"/>
          <a:lstStyle/>
          <a:p>
            <a:pPr indent="0" marL="0">
              <a:buNone/>
            </a:pPr>
            <a:r>
              <a:rPr lang="en-US" sz="1050" dirty="0">
                <a:solidFill>
                  <a:srgbClr val="8A8AAA"/>
                </a:solidFill>
                <a:latin typeface="Calibri" pitchFamily="34" charset="0"/>
                <a:ea typeface="Calibri" pitchFamily="34" charset="-122"/>
                <a:cs typeface="Calibri" pitchFamily="34" charset="-120"/>
              </a:rPr>
              <a:t>Female-specific T-score thresholds alert at -2.2 for post-menopausal women — Fatima would have been caught and treated.</a:t>
            </a:r>
            <a:endParaRPr lang="en-US" sz="1050" dirty="0"/>
          </a:p>
        </p:txBody>
      </p:sp>
      <p:sp>
        <p:nvSpPr>
          <p:cNvPr id="25" name="Text 19"/>
          <p:cNvSpPr/>
          <p:nvPr/>
        </p:nvSpPr>
        <p:spPr>
          <a:xfrm>
            <a:off x="4846320" y="4663440"/>
            <a:ext cx="3977640" cy="365760"/>
          </a:xfrm>
          <a:prstGeom prst="rect">
            <a:avLst/>
          </a:prstGeom>
          <a:noFill/>
          <a:ln/>
        </p:spPr>
        <p:txBody>
          <a:bodyPr wrap="square" rtlCol="0" anchor="ctr"/>
          <a:lstStyle/>
          <a:p>
            <a:pPr indent="0" marL="0">
              <a:buNone/>
            </a:pPr>
            <a:r>
              <a:rPr lang="en-US" sz="1000" i="1" dirty="0">
                <a:solidFill>
                  <a:srgbClr val="E8536A"/>
                </a:solidFill>
                <a:latin typeface="Calibri" pitchFamily="34" charset="0"/>
                <a:ea typeface="Calibri" pitchFamily="34" charset="-122"/>
                <a:cs typeface="Calibri" pitchFamily="34" charset="-120"/>
              </a:rPr>
              <a:t>Osteoporosis affects 4x more women than men — yet devices were validated on male cohorts.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F"/>
          </a:solidFill>
          <a:ln w="12700">
            <a:solidFill>
              <a:srgbClr val="0A0A0F"/>
            </a:solidFill>
            <a:prstDash val="solid"/>
          </a:ln>
        </p:spPr>
      </p:sp>
      <p:sp>
        <p:nvSpPr>
          <p:cNvPr id="3" name="Text 1"/>
          <p:cNvSpPr/>
          <p:nvPr/>
        </p:nvSpPr>
        <p:spPr>
          <a:xfrm>
            <a:off x="457200" y="228600"/>
            <a:ext cx="4572000" cy="320040"/>
          </a:xfrm>
          <a:prstGeom prst="rect">
            <a:avLst/>
          </a:prstGeom>
          <a:noFill/>
          <a:ln/>
        </p:spPr>
        <p:txBody>
          <a:bodyPr wrap="square" rtlCol="0" anchor="ctr"/>
          <a:lstStyle/>
          <a:p>
            <a:pPr indent="0" marL="0">
              <a:buNone/>
            </a:pPr>
            <a:r>
              <a:rPr lang="en-US" sz="900" b="1" spc="300" kern="0" dirty="0">
                <a:solidFill>
                  <a:srgbClr val="6BE8C8"/>
                </a:solidFill>
                <a:latin typeface="Calibri" pitchFamily="34" charset="0"/>
                <a:ea typeface="Calibri" pitchFamily="34" charset="-122"/>
                <a:cs typeface="Calibri" pitchFamily="34" charset="-120"/>
              </a:rPr>
              <a:t>CASE 03  ·  DRUG DOSAGE ALGORITHMS</a:t>
            </a:r>
            <a:endParaRPr lang="en-US" sz="900" dirty="0"/>
          </a:p>
        </p:txBody>
      </p:sp>
      <p:sp>
        <p:nvSpPr>
          <p:cNvPr id="4" name="Text 2"/>
          <p:cNvSpPr/>
          <p:nvPr/>
        </p:nvSpPr>
        <p:spPr>
          <a:xfrm>
            <a:off x="457200" y="640080"/>
            <a:ext cx="4572000" cy="685800"/>
          </a:xfrm>
          <a:prstGeom prst="rect">
            <a:avLst/>
          </a:prstGeom>
          <a:noFill/>
          <a:ln/>
        </p:spPr>
        <p:txBody>
          <a:bodyPr wrap="square" rtlCol="0" anchor="ctr"/>
          <a:lstStyle/>
          <a:p>
            <a:pPr indent="0" marL="0">
              <a:buNone/>
            </a:pPr>
            <a:r>
              <a:rPr lang="en-US" sz="4400" b="1" dirty="0">
                <a:solidFill>
                  <a:srgbClr val="EDE9F8"/>
                </a:solidFill>
                <a:latin typeface="Georgia" pitchFamily="34" charset="0"/>
                <a:ea typeface="Georgia" pitchFamily="34" charset="-122"/>
                <a:cs typeface="Georgia" pitchFamily="34" charset="-120"/>
              </a:rPr>
              <a:t>Zawadi</a:t>
            </a:r>
            <a:endParaRPr lang="en-US" sz="4400" dirty="0"/>
          </a:p>
        </p:txBody>
      </p:sp>
      <p:sp>
        <p:nvSpPr>
          <p:cNvPr id="5" name="Text 3"/>
          <p:cNvSpPr/>
          <p:nvPr/>
        </p:nvSpPr>
        <p:spPr>
          <a:xfrm>
            <a:off x="457200" y="1325880"/>
            <a:ext cx="4572000" cy="320040"/>
          </a:xfrm>
          <a:prstGeom prst="rect">
            <a:avLst/>
          </a:prstGeom>
          <a:noFill/>
          <a:ln/>
        </p:spPr>
        <p:txBody>
          <a:bodyPr wrap="square" rtlCol="0" anchor="ctr"/>
          <a:lstStyle/>
          <a:p>
            <a:pPr indent="0" marL="0">
              <a:buNone/>
            </a:pPr>
            <a:r>
              <a:rPr lang="en-US" sz="1200" dirty="0">
                <a:solidFill>
                  <a:srgbClr val="8A8AAA"/>
                </a:solidFill>
                <a:latin typeface="Calibri" pitchFamily="34" charset="0"/>
                <a:ea typeface="Calibri" pitchFamily="34" charset="-122"/>
                <a:cs typeface="Calibri" pitchFamily="34" charset="-120"/>
              </a:rPr>
              <a:t>31 years old  ·  Kisumu  ·  Luteal cycle phase</a:t>
            </a:r>
            <a:endParaRPr lang="en-US" sz="1200" dirty="0"/>
          </a:p>
        </p:txBody>
      </p:sp>
      <p:sp>
        <p:nvSpPr>
          <p:cNvPr id="6" name="Shape 4"/>
          <p:cNvSpPr/>
          <p:nvPr/>
        </p:nvSpPr>
        <p:spPr>
          <a:xfrm>
            <a:off x="457200" y="1737360"/>
            <a:ext cx="1005840" cy="1005840"/>
          </a:xfrm>
          <a:prstGeom prst="ellipse">
            <a:avLst/>
          </a:prstGeom>
          <a:solidFill>
            <a:srgbClr val="0A1418"/>
          </a:solidFill>
          <a:ln w="25400">
            <a:solidFill>
              <a:srgbClr val="6BE8C8"/>
            </a:solidFill>
            <a:prstDash val="solid"/>
          </a:ln>
        </p:spPr>
      </p:sp>
      <p:sp>
        <p:nvSpPr>
          <p:cNvPr id="7" name="Text 5"/>
          <p:cNvSpPr/>
          <p:nvPr/>
        </p:nvSpPr>
        <p:spPr>
          <a:xfrm>
            <a:off x="457200" y="1737360"/>
            <a:ext cx="1005840" cy="100584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8" name="Text 6"/>
          <p:cNvSpPr/>
          <p:nvPr/>
        </p:nvSpPr>
        <p:spPr>
          <a:xfrm>
            <a:off x="457200" y="2880360"/>
            <a:ext cx="4114800" cy="320040"/>
          </a:xfrm>
          <a:prstGeom prst="rect">
            <a:avLst/>
          </a:prstGeom>
          <a:noFill/>
          <a:ln/>
        </p:spPr>
        <p:txBody>
          <a:bodyPr wrap="square" rtlCol="0" anchor="ctr"/>
          <a:lstStyle/>
          <a:p>
            <a:pPr indent="0" marL="0">
              <a:buNone/>
            </a:pPr>
            <a:r>
              <a:rPr lang="en-US" sz="900" b="1" spc="300" kern="0" dirty="0">
                <a:solidFill>
                  <a:srgbClr val="8A8AAA"/>
                </a:solidFill>
                <a:latin typeface="Calibri" pitchFamily="34" charset="0"/>
                <a:ea typeface="Calibri" pitchFamily="34" charset="-122"/>
                <a:cs typeface="Calibri" pitchFamily="34" charset="-120"/>
              </a:rPr>
              <a:t>CHAIN OF FAILURE</a:t>
            </a:r>
            <a:endParaRPr lang="en-US" sz="900" dirty="0"/>
          </a:p>
        </p:txBody>
      </p:sp>
      <p:sp>
        <p:nvSpPr>
          <p:cNvPr id="9" name="Shape 7"/>
          <p:cNvSpPr/>
          <p:nvPr/>
        </p:nvSpPr>
        <p:spPr>
          <a:xfrm>
            <a:off x="457200" y="3291840"/>
            <a:ext cx="384048" cy="384048"/>
          </a:xfrm>
          <a:prstGeom prst="rect">
            <a:avLst/>
          </a:prstGeom>
          <a:solidFill>
            <a:srgbClr val="6BE8C8"/>
          </a:solidFill>
          <a:ln w="12700">
            <a:solidFill>
              <a:srgbClr val="6BE8C8"/>
            </a:solidFill>
            <a:prstDash val="solid"/>
          </a:ln>
        </p:spPr>
      </p:sp>
      <p:sp>
        <p:nvSpPr>
          <p:cNvPr id="10" name="Text 8"/>
          <p:cNvSpPr/>
          <p:nvPr/>
        </p:nvSpPr>
        <p:spPr>
          <a:xfrm>
            <a:off x="457200" y="3291840"/>
            <a:ext cx="384048" cy="384048"/>
          </a:xfrm>
          <a:prstGeom prst="rect">
            <a:avLst/>
          </a:prstGeom>
          <a:noFill/>
          <a:ln/>
        </p:spPr>
        <p:txBody>
          <a:bodyPr wrap="square" lIns="0" tIns="0" rIns="0" bIns="0" rtlCol="0" anchor="ctr"/>
          <a:lstStyle/>
          <a:p>
            <a:pPr algn="ctr" indent="0" marL="0">
              <a:buNone/>
            </a:pPr>
            <a:r>
              <a:rPr lang="en-US" sz="1300" b="1" dirty="0">
                <a:solidFill>
                  <a:srgbClr val="0A0A0F"/>
                </a:solidFill>
              </a:rPr>
              <a:t>01</a:t>
            </a:r>
            <a:endParaRPr lang="en-US" sz="1300" dirty="0"/>
          </a:p>
        </p:txBody>
      </p:sp>
      <p:sp>
        <p:nvSpPr>
          <p:cNvPr id="11" name="Text 9"/>
          <p:cNvSpPr/>
          <p:nvPr/>
        </p:nvSpPr>
        <p:spPr>
          <a:xfrm>
            <a:off x="960120" y="3319272"/>
            <a:ext cx="3566160" cy="347472"/>
          </a:xfrm>
          <a:prstGeom prst="rect">
            <a:avLst/>
          </a:prstGeom>
          <a:noFill/>
          <a:ln/>
        </p:spPr>
        <p:txBody>
          <a:bodyPr wrap="square" lIns="0" tIns="0" rIns="0" bIns="0" rtlCol="0" anchor="ctr"/>
          <a:lstStyle/>
          <a:p>
            <a:pPr indent="0" marL="0">
              <a:buNone/>
            </a:pPr>
            <a:r>
              <a:rPr lang="en-US" sz="1100" dirty="0">
                <a:solidFill>
                  <a:srgbClr val="EDE9F8"/>
                </a:solidFill>
                <a:latin typeface="Calibri" pitchFamily="34" charset="0"/>
                <a:ea typeface="Calibri" pitchFamily="34" charset="-122"/>
                <a:cs typeface="Calibri" pitchFamily="34" charset="-120"/>
              </a:rPr>
              <a:t>IoT dispenser calculates sedative dose by body weight — using male metabolism model</a:t>
            </a:r>
            <a:endParaRPr lang="en-US" sz="1100" dirty="0"/>
          </a:p>
        </p:txBody>
      </p:sp>
      <p:sp>
        <p:nvSpPr>
          <p:cNvPr id="12" name="Shape 10"/>
          <p:cNvSpPr/>
          <p:nvPr/>
        </p:nvSpPr>
        <p:spPr>
          <a:xfrm>
            <a:off x="457200" y="3840480"/>
            <a:ext cx="384048" cy="384048"/>
          </a:xfrm>
          <a:prstGeom prst="rect">
            <a:avLst/>
          </a:prstGeom>
          <a:solidFill>
            <a:srgbClr val="6BE8C8"/>
          </a:solidFill>
          <a:ln w="12700">
            <a:solidFill>
              <a:srgbClr val="6BE8C8"/>
            </a:solidFill>
            <a:prstDash val="solid"/>
          </a:ln>
        </p:spPr>
      </p:sp>
      <p:sp>
        <p:nvSpPr>
          <p:cNvPr id="13" name="Text 11"/>
          <p:cNvSpPr/>
          <p:nvPr/>
        </p:nvSpPr>
        <p:spPr>
          <a:xfrm>
            <a:off x="457200" y="3840480"/>
            <a:ext cx="384048" cy="384048"/>
          </a:xfrm>
          <a:prstGeom prst="rect">
            <a:avLst/>
          </a:prstGeom>
          <a:noFill/>
          <a:ln/>
        </p:spPr>
        <p:txBody>
          <a:bodyPr wrap="square" lIns="0" tIns="0" rIns="0" bIns="0" rtlCol="0" anchor="ctr"/>
          <a:lstStyle/>
          <a:p>
            <a:pPr algn="ctr" indent="0" marL="0">
              <a:buNone/>
            </a:pPr>
            <a:r>
              <a:rPr lang="en-US" sz="1300" b="1" dirty="0">
                <a:solidFill>
                  <a:srgbClr val="0A0A0F"/>
                </a:solidFill>
              </a:rPr>
              <a:t>02</a:t>
            </a:r>
            <a:endParaRPr lang="en-US" sz="1300" dirty="0"/>
          </a:p>
        </p:txBody>
      </p:sp>
      <p:sp>
        <p:nvSpPr>
          <p:cNvPr id="14" name="Text 12"/>
          <p:cNvSpPr/>
          <p:nvPr/>
        </p:nvSpPr>
        <p:spPr>
          <a:xfrm>
            <a:off x="960120" y="3867912"/>
            <a:ext cx="3566160" cy="347472"/>
          </a:xfrm>
          <a:prstGeom prst="rect">
            <a:avLst/>
          </a:prstGeom>
          <a:noFill/>
          <a:ln/>
        </p:spPr>
        <p:txBody>
          <a:bodyPr wrap="square" lIns="0" tIns="0" rIns="0" bIns="0" rtlCol="0" anchor="ctr"/>
          <a:lstStyle/>
          <a:p>
            <a:pPr indent="0" marL="0">
              <a:buNone/>
            </a:pPr>
            <a:r>
              <a:rPr lang="en-US" sz="1100" dirty="0">
                <a:solidFill>
                  <a:srgbClr val="EDE9F8"/>
                </a:solidFill>
                <a:latin typeface="Calibri" pitchFamily="34" charset="0"/>
                <a:ea typeface="Calibri" pitchFamily="34" charset="-122"/>
                <a:cs typeface="Calibri" pitchFamily="34" charset="-120"/>
              </a:rPr>
              <a:t>Women have different body fat distribution &amp; hormonal variation — they metabolize sedatives 35% slower</a:t>
            </a:r>
            <a:endParaRPr lang="en-US" sz="1100" dirty="0"/>
          </a:p>
        </p:txBody>
      </p:sp>
      <p:sp>
        <p:nvSpPr>
          <p:cNvPr id="15" name="Shape 13"/>
          <p:cNvSpPr/>
          <p:nvPr/>
        </p:nvSpPr>
        <p:spPr>
          <a:xfrm>
            <a:off x="457200" y="4389120"/>
            <a:ext cx="384048" cy="384048"/>
          </a:xfrm>
          <a:prstGeom prst="rect">
            <a:avLst/>
          </a:prstGeom>
          <a:solidFill>
            <a:srgbClr val="6BE8C8"/>
          </a:solidFill>
          <a:ln w="12700">
            <a:solidFill>
              <a:srgbClr val="6BE8C8"/>
            </a:solidFill>
            <a:prstDash val="solid"/>
          </a:ln>
        </p:spPr>
      </p:sp>
      <p:sp>
        <p:nvSpPr>
          <p:cNvPr id="16" name="Text 14"/>
          <p:cNvSpPr/>
          <p:nvPr/>
        </p:nvSpPr>
        <p:spPr>
          <a:xfrm>
            <a:off x="457200" y="4389120"/>
            <a:ext cx="384048" cy="384048"/>
          </a:xfrm>
          <a:prstGeom prst="rect">
            <a:avLst/>
          </a:prstGeom>
          <a:noFill/>
          <a:ln/>
        </p:spPr>
        <p:txBody>
          <a:bodyPr wrap="square" lIns="0" tIns="0" rIns="0" bIns="0" rtlCol="0" anchor="ctr"/>
          <a:lstStyle/>
          <a:p>
            <a:pPr algn="ctr" indent="0" marL="0">
              <a:buNone/>
            </a:pPr>
            <a:r>
              <a:rPr lang="en-US" sz="1300" b="1" dirty="0">
                <a:solidFill>
                  <a:srgbClr val="0A0A0F"/>
                </a:solidFill>
              </a:rPr>
              <a:t>03</a:t>
            </a:r>
            <a:endParaRPr lang="en-US" sz="1300" dirty="0"/>
          </a:p>
        </p:txBody>
      </p:sp>
      <p:sp>
        <p:nvSpPr>
          <p:cNvPr id="17" name="Text 15"/>
          <p:cNvSpPr/>
          <p:nvPr/>
        </p:nvSpPr>
        <p:spPr>
          <a:xfrm>
            <a:off x="960120" y="4416552"/>
            <a:ext cx="3566160" cy="347472"/>
          </a:xfrm>
          <a:prstGeom prst="rect">
            <a:avLst/>
          </a:prstGeom>
          <a:noFill/>
          <a:ln/>
        </p:spPr>
        <p:txBody>
          <a:bodyPr wrap="square" lIns="0" tIns="0" rIns="0" bIns="0" rtlCol="0" anchor="ctr"/>
          <a:lstStyle/>
          <a:p>
            <a:pPr indent="0" marL="0">
              <a:buNone/>
            </a:pPr>
            <a:r>
              <a:rPr lang="en-US" sz="1100" dirty="0">
                <a:solidFill>
                  <a:srgbClr val="EDE9F8"/>
                </a:solidFill>
                <a:latin typeface="Calibri" pitchFamily="34" charset="0"/>
                <a:ea typeface="Calibri" pitchFamily="34" charset="-122"/>
                <a:cs typeface="Calibri" pitchFamily="34" charset="-120"/>
              </a:rPr>
              <a:t>Zawadi receives 40% more sedative than her biology can safely process</a:t>
            </a:r>
            <a:endParaRPr lang="en-US" sz="1100" dirty="0"/>
          </a:p>
        </p:txBody>
      </p:sp>
      <p:sp>
        <p:nvSpPr>
          <p:cNvPr id="18" name="Shape 16"/>
          <p:cNvSpPr/>
          <p:nvPr/>
        </p:nvSpPr>
        <p:spPr>
          <a:xfrm>
            <a:off x="4846320" y="182880"/>
            <a:ext cx="4069080" cy="4754880"/>
          </a:xfrm>
          <a:prstGeom prst="rect">
            <a:avLst/>
          </a:prstGeom>
          <a:solidFill>
            <a:srgbClr val="1A1A28"/>
          </a:solidFill>
          <a:ln w="12700">
            <a:solidFill>
              <a:srgbClr val="2A2A3A"/>
            </a:solidFill>
            <a:prstDash val="solid"/>
          </a:ln>
        </p:spPr>
      </p:sp>
      <p:sp>
        <p:nvSpPr>
          <p:cNvPr id="19" name="Text 17"/>
          <p:cNvSpPr/>
          <p:nvPr/>
        </p:nvSpPr>
        <p:spPr>
          <a:xfrm>
            <a:off x="5029200" y="365760"/>
            <a:ext cx="3749040" cy="320040"/>
          </a:xfrm>
          <a:prstGeom prst="rect">
            <a:avLst/>
          </a:prstGeom>
          <a:noFill/>
          <a:ln/>
        </p:spPr>
        <p:txBody>
          <a:bodyPr wrap="square" rtlCol="0" anchor="ctr"/>
          <a:lstStyle/>
          <a:p>
            <a:pPr indent="0" marL="0">
              <a:buNone/>
            </a:pPr>
            <a:r>
              <a:rPr lang="en-US" sz="900" b="1" spc="200" kern="0" dirty="0">
                <a:solidFill>
                  <a:srgbClr val="6BE8C8"/>
                </a:solidFill>
                <a:latin typeface="Calibri" pitchFamily="34" charset="0"/>
                <a:ea typeface="Calibri" pitchFamily="34" charset="-122"/>
                <a:cs typeface="Calibri" pitchFamily="34" charset="-120"/>
              </a:rPr>
              <a:t>BEFORE vs AFTER RECALIBRATION</a:t>
            </a:r>
            <a:endParaRPr lang="en-US" sz="900" dirty="0"/>
          </a:p>
        </p:txBody>
      </p:sp>
      <p:sp>
        <p:nvSpPr>
          <p:cNvPr id="20" name="Shape 18"/>
          <p:cNvSpPr/>
          <p:nvPr/>
        </p:nvSpPr>
        <p:spPr>
          <a:xfrm>
            <a:off x="6309360" y="777240"/>
            <a:ext cx="1234440" cy="292608"/>
          </a:xfrm>
          <a:prstGeom prst="rect">
            <a:avLst/>
          </a:prstGeom>
          <a:solidFill>
            <a:srgbClr val="2A1010"/>
          </a:solidFill>
          <a:ln w="12700">
            <a:solidFill>
              <a:srgbClr val="FF4444"/>
            </a:solidFill>
            <a:prstDash val="solid"/>
          </a:ln>
        </p:spPr>
      </p:sp>
      <p:sp>
        <p:nvSpPr>
          <p:cNvPr id="21" name="Text 19"/>
          <p:cNvSpPr/>
          <p:nvPr/>
        </p:nvSpPr>
        <p:spPr>
          <a:xfrm>
            <a:off x="6309360" y="777240"/>
            <a:ext cx="1234440" cy="292608"/>
          </a:xfrm>
          <a:prstGeom prst="rect">
            <a:avLst/>
          </a:prstGeom>
          <a:noFill/>
          <a:ln/>
        </p:spPr>
        <p:txBody>
          <a:bodyPr wrap="square" lIns="0" tIns="0" rIns="0" bIns="0" rtlCol="0" anchor="ctr"/>
          <a:lstStyle/>
          <a:p>
            <a:pPr algn="ctr" indent="0" marL="0">
              <a:buNone/>
            </a:pPr>
            <a:r>
              <a:rPr lang="en-US" sz="900" b="1" spc="100" kern="0" dirty="0">
                <a:solidFill>
                  <a:srgbClr val="FF4444"/>
                </a:solidFill>
              </a:rPr>
              <a:t>MALE MODEL</a:t>
            </a:r>
            <a:endParaRPr lang="en-US" sz="900" dirty="0"/>
          </a:p>
        </p:txBody>
      </p:sp>
      <p:sp>
        <p:nvSpPr>
          <p:cNvPr id="22" name="Shape 20"/>
          <p:cNvSpPr/>
          <p:nvPr/>
        </p:nvSpPr>
        <p:spPr>
          <a:xfrm>
            <a:off x="7589520" y="777240"/>
            <a:ext cx="1234440" cy="292608"/>
          </a:xfrm>
          <a:prstGeom prst="rect">
            <a:avLst/>
          </a:prstGeom>
          <a:solidFill>
            <a:srgbClr val="0A1A10"/>
          </a:solidFill>
          <a:ln w="12700">
            <a:solidFill>
              <a:srgbClr val="44DD88"/>
            </a:solidFill>
            <a:prstDash val="solid"/>
          </a:ln>
        </p:spPr>
      </p:sp>
      <p:sp>
        <p:nvSpPr>
          <p:cNvPr id="23" name="Text 21"/>
          <p:cNvSpPr/>
          <p:nvPr/>
        </p:nvSpPr>
        <p:spPr>
          <a:xfrm>
            <a:off x="7589520" y="777240"/>
            <a:ext cx="1234440" cy="292608"/>
          </a:xfrm>
          <a:prstGeom prst="rect">
            <a:avLst/>
          </a:prstGeom>
          <a:noFill/>
          <a:ln/>
        </p:spPr>
        <p:txBody>
          <a:bodyPr wrap="square" lIns="0" tIns="0" rIns="0" bIns="0" rtlCol="0" anchor="ctr"/>
          <a:lstStyle/>
          <a:p>
            <a:pPr algn="ctr" indent="0" marL="0">
              <a:buNone/>
            </a:pPr>
            <a:r>
              <a:rPr lang="en-US" sz="900" b="1" spc="100" kern="0" dirty="0">
                <a:solidFill>
                  <a:srgbClr val="44DD88"/>
                </a:solidFill>
              </a:rPr>
              <a:t>FEMALE MODEL</a:t>
            </a:r>
            <a:endParaRPr lang="en-US" sz="900" dirty="0"/>
          </a:p>
        </p:txBody>
      </p:sp>
      <p:sp>
        <p:nvSpPr>
          <p:cNvPr id="24" name="Shape 22"/>
          <p:cNvSpPr/>
          <p:nvPr/>
        </p:nvSpPr>
        <p:spPr>
          <a:xfrm>
            <a:off x="4846320" y="1207008"/>
            <a:ext cx="4069080" cy="594360"/>
          </a:xfrm>
          <a:prstGeom prst="rect">
            <a:avLst/>
          </a:prstGeom>
          <a:solidFill>
            <a:srgbClr val="1A1A28"/>
          </a:solidFill>
          <a:ln w="6350">
            <a:solidFill>
              <a:srgbClr val="2A2A3A"/>
            </a:solidFill>
            <a:prstDash val="solid"/>
          </a:ln>
        </p:spPr>
      </p:sp>
      <p:sp>
        <p:nvSpPr>
          <p:cNvPr id="25" name="Text 23"/>
          <p:cNvSpPr/>
          <p:nvPr/>
        </p:nvSpPr>
        <p:spPr>
          <a:xfrm>
            <a:off x="4892040" y="1325880"/>
            <a:ext cx="1371600" cy="347472"/>
          </a:xfrm>
          <a:prstGeom prst="rect">
            <a:avLst/>
          </a:prstGeom>
          <a:noFill/>
          <a:ln/>
        </p:spPr>
        <p:txBody>
          <a:bodyPr wrap="square" lIns="0" tIns="0" rIns="0" bIns="0" rtlCol="0" anchor="ctr"/>
          <a:lstStyle/>
          <a:p>
            <a:pPr indent="0" marL="0">
              <a:buNone/>
            </a:pPr>
            <a:r>
              <a:rPr lang="en-US" sz="950" b="1" dirty="0">
                <a:solidFill>
                  <a:srgbClr val="8A8AAA"/>
                </a:solidFill>
                <a:latin typeface="Calibri" pitchFamily="34" charset="0"/>
                <a:ea typeface="Calibri" pitchFamily="34" charset="-122"/>
                <a:cs typeface="Calibri" pitchFamily="34" charset="-120"/>
              </a:rPr>
              <a:t>Dosage basis</a:t>
            </a:r>
            <a:endParaRPr lang="en-US" sz="950" dirty="0"/>
          </a:p>
        </p:txBody>
      </p:sp>
      <p:sp>
        <p:nvSpPr>
          <p:cNvPr id="26" name="Text 24"/>
          <p:cNvSpPr/>
          <p:nvPr/>
        </p:nvSpPr>
        <p:spPr>
          <a:xfrm>
            <a:off x="6309360" y="1325880"/>
            <a:ext cx="1234440" cy="347472"/>
          </a:xfrm>
          <a:prstGeom prst="rect">
            <a:avLst/>
          </a:prstGeom>
          <a:noFill/>
          <a:ln/>
        </p:spPr>
        <p:txBody>
          <a:bodyPr wrap="square" lIns="0" tIns="0" rIns="0" bIns="0" rtlCol="0" anchor="ctr"/>
          <a:lstStyle/>
          <a:p>
            <a:pPr algn="ctr" indent="0" marL="0">
              <a:buNone/>
            </a:pPr>
            <a:r>
              <a:rPr lang="en-US" sz="1050" dirty="0">
                <a:solidFill>
                  <a:srgbClr val="EDE9F8"/>
                </a:solidFill>
                <a:latin typeface="Calibri" pitchFamily="34" charset="0"/>
                <a:ea typeface="Calibri" pitchFamily="34" charset="-122"/>
                <a:cs typeface="Calibri" pitchFamily="34" charset="-120"/>
              </a:rPr>
              <a:t>Body weight only</a:t>
            </a:r>
            <a:endParaRPr lang="en-US" sz="1050" dirty="0"/>
          </a:p>
        </p:txBody>
      </p:sp>
      <p:sp>
        <p:nvSpPr>
          <p:cNvPr id="27" name="Text 25"/>
          <p:cNvSpPr/>
          <p:nvPr/>
        </p:nvSpPr>
        <p:spPr>
          <a:xfrm>
            <a:off x="7589520" y="1325880"/>
            <a:ext cx="1234440" cy="347472"/>
          </a:xfrm>
          <a:prstGeom prst="rect">
            <a:avLst/>
          </a:prstGeom>
          <a:noFill/>
          <a:ln/>
        </p:spPr>
        <p:txBody>
          <a:bodyPr wrap="square" lIns="0" tIns="0" rIns="0" bIns="0" rtlCol="0" anchor="ctr"/>
          <a:lstStyle/>
          <a:p>
            <a:pPr algn="ctr" indent="0" marL="0">
              <a:buNone/>
            </a:pPr>
            <a:r>
              <a:rPr lang="en-US" sz="1050" dirty="0">
                <a:solidFill>
                  <a:srgbClr val="6BE8C8"/>
                </a:solidFill>
                <a:latin typeface="Calibri" pitchFamily="34" charset="0"/>
                <a:ea typeface="Calibri" pitchFamily="34" charset="-122"/>
                <a:cs typeface="Calibri" pitchFamily="34" charset="-120"/>
              </a:rPr>
              <a:t>Weight + fat ratio + cycle</a:t>
            </a:r>
            <a:endParaRPr lang="en-US" sz="1050" dirty="0"/>
          </a:p>
        </p:txBody>
      </p:sp>
      <p:sp>
        <p:nvSpPr>
          <p:cNvPr id="28" name="Shape 26"/>
          <p:cNvSpPr/>
          <p:nvPr/>
        </p:nvSpPr>
        <p:spPr>
          <a:xfrm>
            <a:off x="4846320" y="1865376"/>
            <a:ext cx="4069080" cy="594360"/>
          </a:xfrm>
          <a:prstGeom prst="rect">
            <a:avLst/>
          </a:prstGeom>
          <a:solidFill>
            <a:srgbClr val="15151F"/>
          </a:solidFill>
          <a:ln w="6350">
            <a:solidFill>
              <a:srgbClr val="2A2A3A"/>
            </a:solidFill>
            <a:prstDash val="solid"/>
          </a:ln>
        </p:spPr>
      </p:sp>
      <p:sp>
        <p:nvSpPr>
          <p:cNvPr id="29" name="Text 27"/>
          <p:cNvSpPr/>
          <p:nvPr/>
        </p:nvSpPr>
        <p:spPr>
          <a:xfrm>
            <a:off x="4892040" y="1984248"/>
            <a:ext cx="1371600" cy="347472"/>
          </a:xfrm>
          <a:prstGeom prst="rect">
            <a:avLst/>
          </a:prstGeom>
          <a:noFill/>
          <a:ln/>
        </p:spPr>
        <p:txBody>
          <a:bodyPr wrap="square" lIns="0" tIns="0" rIns="0" bIns="0" rtlCol="0" anchor="ctr"/>
          <a:lstStyle/>
          <a:p>
            <a:pPr indent="0" marL="0">
              <a:buNone/>
            </a:pPr>
            <a:r>
              <a:rPr lang="en-US" sz="950" b="1" dirty="0">
                <a:solidFill>
                  <a:srgbClr val="8A8AAA"/>
                </a:solidFill>
                <a:latin typeface="Calibri" pitchFamily="34" charset="0"/>
                <a:ea typeface="Calibri" pitchFamily="34" charset="-122"/>
                <a:cs typeface="Calibri" pitchFamily="34" charset="-120"/>
              </a:rPr>
              <a:t>Metabolism speed</a:t>
            </a:r>
            <a:endParaRPr lang="en-US" sz="950" dirty="0"/>
          </a:p>
        </p:txBody>
      </p:sp>
      <p:sp>
        <p:nvSpPr>
          <p:cNvPr id="30" name="Text 28"/>
          <p:cNvSpPr/>
          <p:nvPr/>
        </p:nvSpPr>
        <p:spPr>
          <a:xfrm>
            <a:off x="6309360" y="1984248"/>
            <a:ext cx="1234440" cy="347472"/>
          </a:xfrm>
          <a:prstGeom prst="rect">
            <a:avLst/>
          </a:prstGeom>
          <a:noFill/>
          <a:ln/>
        </p:spPr>
        <p:txBody>
          <a:bodyPr wrap="square" lIns="0" tIns="0" rIns="0" bIns="0" rtlCol="0" anchor="ctr"/>
          <a:lstStyle/>
          <a:p>
            <a:pPr algn="ctr" indent="0" marL="0">
              <a:buNone/>
            </a:pPr>
            <a:r>
              <a:rPr lang="en-US" sz="1050" dirty="0">
                <a:solidFill>
                  <a:srgbClr val="EDE9F8"/>
                </a:solidFill>
                <a:latin typeface="Calibri" pitchFamily="34" charset="0"/>
                <a:ea typeface="Calibri" pitchFamily="34" charset="-122"/>
                <a:cs typeface="Calibri" pitchFamily="34" charset="-120"/>
              </a:rPr>
              <a:t>Standard (male)</a:t>
            </a:r>
            <a:endParaRPr lang="en-US" sz="1050" dirty="0"/>
          </a:p>
        </p:txBody>
      </p:sp>
      <p:sp>
        <p:nvSpPr>
          <p:cNvPr id="31" name="Text 29"/>
          <p:cNvSpPr/>
          <p:nvPr/>
        </p:nvSpPr>
        <p:spPr>
          <a:xfrm>
            <a:off x="7589520" y="1984248"/>
            <a:ext cx="1234440" cy="347472"/>
          </a:xfrm>
          <a:prstGeom prst="rect">
            <a:avLst/>
          </a:prstGeom>
          <a:noFill/>
          <a:ln/>
        </p:spPr>
        <p:txBody>
          <a:bodyPr wrap="square" lIns="0" tIns="0" rIns="0" bIns="0" rtlCol="0" anchor="ctr"/>
          <a:lstStyle/>
          <a:p>
            <a:pPr algn="ctr" indent="0" marL="0">
              <a:buNone/>
            </a:pPr>
            <a:r>
              <a:rPr lang="en-US" sz="1050" dirty="0">
                <a:solidFill>
                  <a:srgbClr val="6BE8C8"/>
                </a:solidFill>
                <a:latin typeface="Calibri" pitchFamily="34" charset="0"/>
                <a:ea typeface="Calibri" pitchFamily="34" charset="-122"/>
                <a:cs typeface="Calibri" pitchFamily="34" charset="-120"/>
              </a:rPr>
              <a:t>-35% for women</a:t>
            </a:r>
            <a:endParaRPr lang="en-US" sz="1050" dirty="0"/>
          </a:p>
        </p:txBody>
      </p:sp>
      <p:sp>
        <p:nvSpPr>
          <p:cNvPr id="32" name="Shape 30"/>
          <p:cNvSpPr/>
          <p:nvPr/>
        </p:nvSpPr>
        <p:spPr>
          <a:xfrm>
            <a:off x="4846320" y="2523744"/>
            <a:ext cx="4069080" cy="594360"/>
          </a:xfrm>
          <a:prstGeom prst="rect">
            <a:avLst/>
          </a:prstGeom>
          <a:solidFill>
            <a:srgbClr val="1A1A28"/>
          </a:solidFill>
          <a:ln w="6350">
            <a:solidFill>
              <a:srgbClr val="2A2A3A"/>
            </a:solidFill>
            <a:prstDash val="solid"/>
          </a:ln>
        </p:spPr>
      </p:sp>
      <p:sp>
        <p:nvSpPr>
          <p:cNvPr id="33" name="Text 31"/>
          <p:cNvSpPr/>
          <p:nvPr/>
        </p:nvSpPr>
        <p:spPr>
          <a:xfrm>
            <a:off x="4892040" y="2642616"/>
            <a:ext cx="1371600" cy="347472"/>
          </a:xfrm>
          <a:prstGeom prst="rect">
            <a:avLst/>
          </a:prstGeom>
          <a:noFill/>
          <a:ln/>
        </p:spPr>
        <p:txBody>
          <a:bodyPr wrap="square" lIns="0" tIns="0" rIns="0" bIns="0" rtlCol="0" anchor="ctr"/>
          <a:lstStyle/>
          <a:p>
            <a:pPr indent="0" marL="0">
              <a:buNone/>
            </a:pPr>
            <a:r>
              <a:rPr lang="en-US" sz="950" b="1" dirty="0">
                <a:solidFill>
                  <a:srgbClr val="8A8AAA"/>
                </a:solidFill>
                <a:latin typeface="Calibri" pitchFamily="34" charset="0"/>
                <a:ea typeface="Calibri" pitchFamily="34" charset="-122"/>
                <a:cs typeface="Calibri" pitchFamily="34" charset="-120"/>
              </a:rPr>
              <a:t>Calculated dose</a:t>
            </a:r>
            <a:endParaRPr lang="en-US" sz="950" dirty="0"/>
          </a:p>
        </p:txBody>
      </p:sp>
      <p:sp>
        <p:nvSpPr>
          <p:cNvPr id="34" name="Text 32"/>
          <p:cNvSpPr/>
          <p:nvPr/>
        </p:nvSpPr>
        <p:spPr>
          <a:xfrm>
            <a:off x="6309360" y="2642616"/>
            <a:ext cx="1234440" cy="347472"/>
          </a:xfrm>
          <a:prstGeom prst="rect">
            <a:avLst/>
          </a:prstGeom>
          <a:noFill/>
          <a:ln/>
        </p:spPr>
        <p:txBody>
          <a:bodyPr wrap="square" lIns="0" tIns="0" rIns="0" bIns="0" rtlCol="0" anchor="ctr"/>
          <a:lstStyle/>
          <a:p>
            <a:pPr algn="ctr" indent="0" marL="0">
              <a:buNone/>
            </a:pPr>
            <a:r>
              <a:rPr lang="en-US" sz="1050" dirty="0">
                <a:solidFill>
                  <a:srgbClr val="EDE9F8"/>
                </a:solidFill>
                <a:latin typeface="Calibri" pitchFamily="34" charset="0"/>
                <a:ea typeface="Calibri" pitchFamily="34" charset="-122"/>
                <a:cs typeface="Calibri" pitchFamily="34" charset="-120"/>
              </a:rPr>
              <a:t>100mg</a:t>
            </a:r>
            <a:endParaRPr lang="en-US" sz="1050" dirty="0"/>
          </a:p>
        </p:txBody>
      </p:sp>
      <p:sp>
        <p:nvSpPr>
          <p:cNvPr id="35" name="Text 33"/>
          <p:cNvSpPr/>
          <p:nvPr/>
        </p:nvSpPr>
        <p:spPr>
          <a:xfrm>
            <a:off x="7589520" y="2642616"/>
            <a:ext cx="1234440" cy="347472"/>
          </a:xfrm>
          <a:prstGeom prst="rect">
            <a:avLst/>
          </a:prstGeom>
          <a:noFill/>
          <a:ln/>
        </p:spPr>
        <p:txBody>
          <a:bodyPr wrap="square" lIns="0" tIns="0" rIns="0" bIns="0" rtlCol="0" anchor="ctr"/>
          <a:lstStyle/>
          <a:p>
            <a:pPr algn="ctr" indent="0" marL="0">
              <a:buNone/>
            </a:pPr>
            <a:r>
              <a:rPr lang="en-US" sz="1050" dirty="0">
                <a:solidFill>
                  <a:srgbClr val="6BE8C8"/>
                </a:solidFill>
                <a:latin typeface="Calibri" pitchFamily="34" charset="0"/>
                <a:ea typeface="Calibri" pitchFamily="34" charset="-122"/>
                <a:cs typeface="Calibri" pitchFamily="34" charset="-120"/>
              </a:rPr>
              <a:t>65mg</a:t>
            </a:r>
            <a:endParaRPr lang="en-US" sz="1050" dirty="0"/>
          </a:p>
        </p:txBody>
      </p:sp>
      <p:sp>
        <p:nvSpPr>
          <p:cNvPr id="36" name="Shape 34"/>
          <p:cNvSpPr/>
          <p:nvPr/>
        </p:nvSpPr>
        <p:spPr>
          <a:xfrm>
            <a:off x="4846320" y="3182112"/>
            <a:ext cx="4069080" cy="594360"/>
          </a:xfrm>
          <a:prstGeom prst="rect">
            <a:avLst/>
          </a:prstGeom>
          <a:solidFill>
            <a:srgbClr val="15151F"/>
          </a:solidFill>
          <a:ln w="6350">
            <a:solidFill>
              <a:srgbClr val="2A2A3A"/>
            </a:solidFill>
            <a:prstDash val="solid"/>
          </a:ln>
        </p:spPr>
      </p:sp>
      <p:sp>
        <p:nvSpPr>
          <p:cNvPr id="37" name="Text 35"/>
          <p:cNvSpPr/>
          <p:nvPr/>
        </p:nvSpPr>
        <p:spPr>
          <a:xfrm>
            <a:off x="4892040" y="3300984"/>
            <a:ext cx="1371600" cy="347472"/>
          </a:xfrm>
          <a:prstGeom prst="rect">
            <a:avLst/>
          </a:prstGeom>
          <a:noFill/>
          <a:ln/>
        </p:spPr>
        <p:txBody>
          <a:bodyPr wrap="square" lIns="0" tIns="0" rIns="0" bIns="0" rtlCol="0" anchor="ctr"/>
          <a:lstStyle/>
          <a:p>
            <a:pPr indent="0" marL="0">
              <a:buNone/>
            </a:pPr>
            <a:r>
              <a:rPr lang="en-US" sz="950" b="1" dirty="0">
                <a:solidFill>
                  <a:srgbClr val="8A8AAA"/>
                </a:solidFill>
                <a:latin typeface="Calibri" pitchFamily="34" charset="0"/>
                <a:ea typeface="Calibri" pitchFamily="34" charset="-122"/>
                <a:cs typeface="Calibri" pitchFamily="34" charset="-120"/>
              </a:rPr>
              <a:t>Cycle adjustment</a:t>
            </a:r>
            <a:endParaRPr lang="en-US" sz="950" dirty="0"/>
          </a:p>
        </p:txBody>
      </p:sp>
      <p:sp>
        <p:nvSpPr>
          <p:cNvPr id="38" name="Text 36"/>
          <p:cNvSpPr/>
          <p:nvPr/>
        </p:nvSpPr>
        <p:spPr>
          <a:xfrm>
            <a:off x="6309360" y="3300984"/>
            <a:ext cx="1234440" cy="347472"/>
          </a:xfrm>
          <a:prstGeom prst="rect">
            <a:avLst/>
          </a:prstGeom>
          <a:noFill/>
          <a:ln/>
        </p:spPr>
        <p:txBody>
          <a:bodyPr wrap="square" lIns="0" tIns="0" rIns="0" bIns="0" rtlCol="0" anchor="ctr"/>
          <a:lstStyle/>
          <a:p>
            <a:pPr algn="ctr" indent="0" marL="0">
              <a:buNone/>
            </a:pPr>
            <a:r>
              <a:rPr lang="en-US" sz="1050" dirty="0">
                <a:solidFill>
                  <a:srgbClr val="EDE9F8"/>
                </a:solidFill>
                <a:latin typeface="Calibri" pitchFamily="34" charset="0"/>
                <a:ea typeface="Calibri" pitchFamily="34" charset="-122"/>
                <a:cs typeface="Calibri" pitchFamily="34" charset="-120"/>
              </a:rPr>
              <a:t>None</a:t>
            </a:r>
            <a:endParaRPr lang="en-US" sz="1050" dirty="0"/>
          </a:p>
        </p:txBody>
      </p:sp>
      <p:sp>
        <p:nvSpPr>
          <p:cNvPr id="39" name="Text 37"/>
          <p:cNvSpPr/>
          <p:nvPr/>
        </p:nvSpPr>
        <p:spPr>
          <a:xfrm>
            <a:off x="7589520" y="3300984"/>
            <a:ext cx="1234440" cy="347472"/>
          </a:xfrm>
          <a:prstGeom prst="rect">
            <a:avLst/>
          </a:prstGeom>
          <a:noFill/>
          <a:ln/>
        </p:spPr>
        <p:txBody>
          <a:bodyPr wrap="square" lIns="0" tIns="0" rIns="0" bIns="0" rtlCol="0" anchor="ctr"/>
          <a:lstStyle/>
          <a:p>
            <a:pPr algn="ctr" indent="0" marL="0">
              <a:buNone/>
            </a:pPr>
            <a:r>
              <a:rPr lang="en-US" sz="1050" dirty="0">
                <a:solidFill>
                  <a:srgbClr val="6BE8C8"/>
                </a:solidFill>
                <a:latin typeface="Calibri" pitchFamily="34" charset="0"/>
                <a:ea typeface="Calibri" pitchFamily="34" charset="-122"/>
                <a:cs typeface="Calibri" pitchFamily="34" charset="-120"/>
              </a:rPr>
              <a:t>Luteal: -12% more</a:t>
            </a:r>
            <a:endParaRPr lang="en-US" sz="1050" dirty="0"/>
          </a:p>
        </p:txBody>
      </p:sp>
      <p:sp>
        <p:nvSpPr>
          <p:cNvPr id="40" name="Shape 38"/>
          <p:cNvSpPr/>
          <p:nvPr/>
        </p:nvSpPr>
        <p:spPr>
          <a:xfrm>
            <a:off x="4846320" y="3840480"/>
            <a:ext cx="4069080" cy="594360"/>
          </a:xfrm>
          <a:prstGeom prst="rect">
            <a:avLst/>
          </a:prstGeom>
          <a:solidFill>
            <a:srgbClr val="1A1A28"/>
          </a:solidFill>
          <a:ln w="6350">
            <a:solidFill>
              <a:srgbClr val="2A2A3A"/>
            </a:solidFill>
            <a:prstDash val="solid"/>
          </a:ln>
        </p:spPr>
      </p:sp>
      <p:sp>
        <p:nvSpPr>
          <p:cNvPr id="41" name="Text 39"/>
          <p:cNvSpPr/>
          <p:nvPr/>
        </p:nvSpPr>
        <p:spPr>
          <a:xfrm>
            <a:off x="4892040" y="3959352"/>
            <a:ext cx="1371600" cy="347472"/>
          </a:xfrm>
          <a:prstGeom prst="rect">
            <a:avLst/>
          </a:prstGeom>
          <a:noFill/>
          <a:ln/>
        </p:spPr>
        <p:txBody>
          <a:bodyPr wrap="square" lIns="0" tIns="0" rIns="0" bIns="0" rtlCol="0" anchor="ctr"/>
          <a:lstStyle/>
          <a:p>
            <a:pPr indent="0" marL="0">
              <a:buNone/>
            </a:pPr>
            <a:r>
              <a:rPr lang="en-US" sz="950" b="1" dirty="0">
                <a:solidFill>
                  <a:srgbClr val="8A8AAA"/>
                </a:solidFill>
                <a:latin typeface="Calibri" pitchFamily="34" charset="0"/>
                <a:ea typeface="Calibri" pitchFamily="34" charset="-122"/>
                <a:cs typeface="Calibri" pitchFamily="34" charset="-120"/>
              </a:rPr>
              <a:t>Outcome</a:t>
            </a:r>
            <a:endParaRPr lang="en-US" sz="950" dirty="0"/>
          </a:p>
        </p:txBody>
      </p:sp>
      <p:sp>
        <p:nvSpPr>
          <p:cNvPr id="42" name="Text 40"/>
          <p:cNvSpPr/>
          <p:nvPr/>
        </p:nvSpPr>
        <p:spPr>
          <a:xfrm>
            <a:off x="6309360" y="3959352"/>
            <a:ext cx="1234440" cy="347472"/>
          </a:xfrm>
          <a:prstGeom prst="rect">
            <a:avLst/>
          </a:prstGeom>
          <a:noFill/>
          <a:ln/>
        </p:spPr>
        <p:txBody>
          <a:bodyPr wrap="square" lIns="0" tIns="0" rIns="0" bIns="0" rtlCol="0" anchor="ctr"/>
          <a:lstStyle/>
          <a:p>
            <a:pPr algn="ctr" indent="0" marL="0">
              <a:buNone/>
            </a:pPr>
            <a:r>
              <a:rPr lang="en-US" sz="1050" dirty="0">
                <a:solidFill>
                  <a:srgbClr val="FF4444"/>
                </a:solidFill>
                <a:latin typeface="Calibri" pitchFamily="34" charset="0"/>
                <a:ea typeface="Calibri" pitchFamily="34" charset="-122"/>
                <a:cs typeface="Calibri" pitchFamily="34" charset="-120"/>
              </a:rPr>
              <a:t>Near overdose</a:t>
            </a:r>
            <a:endParaRPr lang="en-US" sz="1050" dirty="0"/>
          </a:p>
        </p:txBody>
      </p:sp>
      <p:sp>
        <p:nvSpPr>
          <p:cNvPr id="43" name="Text 41"/>
          <p:cNvSpPr/>
          <p:nvPr/>
        </p:nvSpPr>
        <p:spPr>
          <a:xfrm>
            <a:off x="7589520" y="3959352"/>
            <a:ext cx="1234440" cy="347472"/>
          </a:xfrm>
          <a:prstGeom prst="rect">
            <a:avLst/>
          </a:prstGeom>
          <a:noFill/>
          <a:ln/>
        </p:spPr>
        <p:txBody>
          <a:bodyPr wrap="square" lIns="0" tIns="0" rIns="0" bIns="0" rtlCol="0" anchor="ctr"/>
          <a:lstStyle/>
          <a:p>
            <a:pPr algn="ctr" indent="0" marL="0">
              <a:buNone/>
            </a:pPr>
            <a:r>
              <a:rPr lang="en-US" sz="1050" b="1" dirty="0">
                <a:solidFill>
                  <a:srgbClr val="44DD88"/>
                </a:solidFill>
                <a:latin typeface="Calibri" pitchFamily="34" charset="0"/>
                <a:ea typeface="Calibri" pitchFamily="34" charset="-122"/>
                <a:cs typeface="Calibri" pitchFamily="34" charset="-120"/>
              </a:rPr>
              <a:t>Full recovery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508"/>
        </a:solidFill>
      </p:bgPr>
    </p:bg>
    <p:spTree>
      <p:nvGrpSpPr>
        <p:cNvPr id="1" name=""/>
        <p:cNvGrpSpPr/>
        <p:nvPr/>
      </p:nvGrpSpPr>
      <p:grpSpPr>
        <a:xfrm>
          <a:off x="0" y="0"/>
          <a:ext cx="0" cy="0"/>
          <a:chOff x="0" y="0"/>
          <a:chExt cx="0" cy="0"/>
        </a:xfrm>
      </p:grpSpPr>
      <p:sp>
        <p:nvSpPr>
          <p:cNvPr id="2" name="Shape 0"/>
          <p:cNvSpPr/>
          <p:nvPr/>
        </p:nvSpPr>
        <p:spPr>
          <a:xfrm>
            <a:off x="2743200" y="457200"/>
            <a:ext cx="3657600" cy="4114800"/>
          </a:xfrm>
          <a:prstGeom prst="ellipse">
            <a:avLst/>
          </a:prstGeom>
          <a:solidFill>
            <a:srgbClr val="FF6B6B">
              <a:alpha val="8000"/>
            </a:srgbClr>
          </a:solidFill>
          <a:ln w="12700">
            <a:solidFill>
              <a:srgbClr val="FF6B6B">
                <a:alpha val="8000"/>
              </a:srgbClr>
            </a:solidFill>
            <a:prstDash val="solid"/>
          </a:ln>
        </p:spPr>
      </p:sp>
      <p:sp>
        <p:nvSpPr>
          <p:cNvPr id="3" name="Text 1"/>
          <p:cNvSpPr/>
          <p:nvPr/>
        </p:nvSpPr>
        <p:spPr>
          <a:xfrm>
            <a:off x="457200" y="274320"/>
            <a:ext cx="8229600" cy="411480"/>
          </a:xfrm>
          <a:prstGeom prst="rect">
            <a:avLst/>
          </a:prstGeom>
          <a:noFill/>
          <a:ln/>
        </p:spPr>
        <p:txBody>
          <a:bodyPr wrap="square" rtlCol="0" anchor="ctr"/>
          <a:lstStyle/>
          <a:p>
            <a:pPr algn="ctr" indent="0" marL="0">
              <a:buNone/>
            </a:pPr>
            <a:r>
              <a:rPr lang="en-US" sz="1000" b="1" spc="500" kern="0" dirty="0">
                <a:solidFill>
                  <a:srgbClr val="FF6B6B"/>
                </a:solidFill>
                <a:latin typeface="Calibri" pitchFamily="34" charset="0"/>
                <a:ea typeface="Calibri" pitchFamily="34" charset="-122"/>
                <a:cs typeface="Calibri" pitchFamily="34" charset="-120"/>
              </a:rPr>
              <a:t>NOW IT'S YOUR TURN</a:t>
            </a:r>
            <a:endParaRPr lang="en-US" sz="1000" dirty="0"/>
          </a:p>
        </p:txBody>
      </p:sp>
      <p:sp>
        <p:nvSpPr>
          <p:cNvPr id="4" name="Text 2"/>
          <p:cNvSpPr/>
          <p:nvPr/>
        </p:nvSpPr>
        <p:spPr>
          <a:xfrm>
            <a:off x="457200" y="777240"/>
            <a:ext cx="8229600" cy="1737360"/>
          </a:xfrm>
          <a:prstGeom prst="rect">
            <a:avLst/>
          </a:prstGeom>
          <a:noFill/>
          <a:ln/>
        </p:spPr>
        <p:txBody>
          <a:bodyPr wrap="square" rtlCol="0" anchor="ctr"/>
          <a:lstStyle/>
          <a:p>
            <a:pPr algn="ctr" indent="0" marL="0">
              <a:buNone/>
            </a:pPr>
            <a:r>
              <a:rPr lang="en-US" sz="5200" b="1" dirty="0">
                <a:solidFill>
                  <a:srgbClr val="EDE9F8"/>
                </a:solidFill>
                <a:latin typeface="Georgia" pitchFamily="34" charset="0"/>
                <a:ea typeface="Georgia" pitchFamily="34" charset="-122"/>
                <a:cs typeface="Georgia" pitchFamily="34" charset="-120"/>
              </a:rPr>
              <a:t>Recalibrate</a:t>
            </a:r>
            <a:endParaRPr lang="en-US" sz="5200" dirty="0"/>
          </a:p>
          <a:p>
            <a:pPr algn="ctr" indent="0" marL="0">
              <a:buNone/>
            </a:pPr>
            <a:r>
              <a:rPr lang="en-US" sz="5200" b="1" dirty="0">
                <a:solidFill>
                  <a:srgbClr val="EDE9F8"/>
                </a:solidFill>
                <a:latin typeface="Georgia" pitchFamily="34" charset="0"/>
                <a:ea typeface="Georgia" pitchFamily="34" charset="-122"/>
                <a:cs typeface="Georgia" pitchFamily="34" charset="-120"/>
              </a:rPr>
              <a:t>the Machine.</a:t>
            </a:r>
            <a:endParaRPr lang="en-US" sz="5200" dirty="0"/>
          </a:p>
        </p:txBody>
      </p:sp>
      <p:sp>
        <p:nvSpPr>
          <p:cNvPr id="5" name="Text 3"/>
          <p:cNvSpPr/>
          <p:nvPr/>
        </p:nvSpPr>
        <p:spPr>
          <a:xfrm>
            <a:off x="914400" y="2651760"/>
            <a:ext cx="7315200" cy="731520"/>
          </a:xfrm>
          <a:prstGeom prst="rect">
            <a:avLst/>
          </a:prstGeom>
          <a:noFill/>
          <a:ln/>
        </p:spPr>
        <p:txBody>
          <a:bodyPr wrap="square" rtlCol="0" anchor="ctr"/>
          <a:lstStyle/>
          <a:p>
            <a:pPr algn="ctr" indent="0" marL="0">
              <a:buNone/>
            </a:pPr>
            <a:r>
              <a:rPr lang="en-US" sz="1500" i="1" dirty="0">
                <a:solidFill>
                  <a:srgbClr val="8A8AAA"/>
                </a:solidFill>
                <a:latin typeface="Calibri" pitchFamily="34" charset="0"/>
                <a:ea typeface="Calibri" pitchFamily="34" charset="-122"/>
                <a:cs typeface="Calibri" pitchFamily="34" charset="-120"/>
              </a:rPr>
              <a:t>You are the engineer. Three patients. Three broken devices.</a:t>
            </a:r>
            <a:endParaRPr lang="en-US" sz="1500" dirty="0"/>
          </a:p>
          <a:p>
            <a:pPr algn="ctr" indent="0" marL="0">
              <a:buNone/>
            </a:pPr>
            <a:r>
              <a:rPr lang="en-US" sz="1500" i="1" dirty="0">
                <a:solidFill>
                  <a:srgbClr val="8A8AAA"/>
                </a:solidFill>
                <a:latin typeface="Calibri" pitchFamily="34" charset="0"/>
                <a:ea typeface="Calibri" pitchFamily="34" charset="-122"/>
                <a:cs typeface="Calibri" pitchFamily="34" charset="-120"/>
              </a:rPr>
              <a:t>Adjust the IoT calibration — and watch misdiagnoses disappear.</a:t>
            </a:r>
            <a:endParaRPr lang="en-US" sz="1500" dirty="0"/>
          </a:p>
        </p:txBody>
      </p:sp>
      <p:sp>
        <p:nvSpPr>
          <p:cNvPr id="6" name="Shape 4"/>
          <p:cNvSpPr/>
          <p:nvPr/>
        </p:nvSpPr>
        <p:spPr>
          <a:xfrm>
            <a:off x="1280160" y="3566160"/>
            <a:ext cx="594360" cy="594360"/>
          </a:xfrm>
          <a:prstGeom prst="ellipse">
            <a:avLst/>
          </a:prstGeom>
          <a:solidFill>
            <a:srgbClr val="FF6B6B"/>
          </a:solidFill>
          <a:ln w="12700">
            <a:solidFill>
              <a:srgbClr val="FF6B6B"/>
            </a:solidFill>
            <a:prstDash val="solid"/>
          </a:ln>
        </p:spPr>
      </p:sp>
      <p:sp>
        <p:nvSpPr>
          <p:cNvPr id="7" name="Text 5"/>
          <p:cNvSpPr/>
          <p:nvPr/>
        </p:nvSpPr>
        <p:spPr>
          <a:xfrm>
            <a:off x="1280160" y="35661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457200" y="4251960"/>
            <a:ext cx="2560320" cy="320040"/>
          </a:xfrm>
          <a:prstGeom prst="rect">
            <a:avLst/>
          </a:prstGeom>
          <a:noFill/>
          <a:ln/>
        </p:spPr>
        <p:txBody>
          <a:bodyPr wrap="square" rtlCol="0" anchor="ctr"/>
          <a:lstStyle/>
          <a:p>
            <a:pPr algn="ctr" indent="0" marL="0">
              <a:buNone/>
            </a:pPr>
            <a:r>
              <a:rPr lang="en-US" sz="1200" b="1" dirty="0">
                <a:solidFill>
                  <a:srgbClr val="EDE9F8"/>
                </a:solidFill>
                <a:latin typeface="Calibri" pitchFamily="34" charset="0"/>
                <a:ea typeface="Calibri" pitchFamily="34" charset="-122"/>
                <a:cs typeface="Calibri" pitchFamily="34" charset="-120"/>
              </a:rPr>
              <a:t>Open the simulation</a:t>
            </a:r>
            <a:endParaRPr lang="en-US" sz="1200" dirty="0"/>
          </a:p>
        </p:txBody>
      </p:sp>
      <p:sp>
        <p:nvSpPr>
          <p:cNvPr id="9" name="Text 7"/>
          <p:cNvSpPr/>
          <p:nvPr/>
        </p:nvSpPr>
        <p:spPr>
          <a:xfrm>
            <a:off x="457200" y="4572000"/>
            <a:ext cx="2560320" cy="365760"/>
          </a:xfrm>
          <a:prstGeom prst="rect">
            <a:avLst/>
          </a:prstGeom>
          <a:noFill/>
          <a:ln/>
        </p:spPr>
        <p:txBody>
          <a:bodyPr wrap="square" rtlCol="0" anchor="ctr"/>
          <a:lstStyle/>
          <a:p>
            <a:pPr algn="ctr" indent="0" marL="0">
              <a:buNone/>
            </a:pPr>
            <a:r>
              <a:rPr lang="en-US" sz="1000" dirty="0">
                <a:solidFill>
                  <a:srgbClr val="8A8AAA"/>
                </a:solidFill>
                <a:latin typeface="Calibri" pitchFamily="34" charset="0"/>
                <a:ea typeface="Calibri" pitchFamily="34" charset="-122"/>
                <a:cs typeface="Calibri" pitchFamily="34" charset="-120"/>
              </a:rPr>
              <a:t>On your screen or as a group</a:t>
            </a:r>
            <a:endParaRPr lang="en-US" sz="1000" dirty="0"/>
          </a:p>
        </p:txBody>
      </p:sp>
      <p:sp>
        <p:nvSpPr>
          <p:cNvPr id="10" name="Shape 8"/>
          <p:cNvSpPr/>
          <p:nvPr/>
        </p:nvSpPr>
        <p:spPr>
          <a:xfrm>
            <a:off x="4114800" y="3566160"/>
            <a:ext cx="594360" cy="594360"/>
          </a:xfrm>
          <a:prstGeom prst="ellipse">
            <a:avLst/>
          </a:prstGeom>
          <a:solidFill>
            <a:srgbClr val="FF6B6B"/>
          </a:solidFill>
          <a:ln w="12700">
            <a:solidFill>
              <a:srgbClr val="FF6B6B"/>
            </a:solidFill>
            <a:prstDash val="solid"/>
          </a:ln>
        </p:spPr>
      </p:sp>
      <p:sp>
        <p:nvSpPr>
          <p:cNvPr id="11" name="Text 9"/>
          <p:cNvSpPr/>
          <p:nvPr/>
        </p:nvSpPr>
        <p:spPr>
          <a:xfrm>
            <a:off x="4114800" y="35661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Text 10"/>
          <p:cNvSpPr/>
          <p:nvPr/>
        </p:nvSpPr>
        <p:spPr>
          <a:xfrm>
            <a:off x="3291840" y="4251960"/>
            <a:ext cx="2560320" cy="320040"/>
          </a:xfrm>
          <a:prstGeom prst="rect">
            <a:avLst/>
          </a:prstGeom>
          <a:noFill/>
          <a:ln/>
        </p:spPr>
        <p:txBody>
          <a:bodyPr wrap="square" rtlCol="0" anchor="ctr"/>
          <a:lstStyle/>
          <a:p>
            <a:pPr algn="ctr" indent="0" marL="0">
              <a:buNone/>
            </a:pPr>
            <a:r>
              <a:rPr lang="en-US" sz="1200" b="1" dirty="0">
                <a:solidFill>
                  <a:srgbClr val="EDE9F8"/>
                </a:solidFill>
                <a:latin typeface="Calibri" pitchFamily="34" charset="0"/>
                <a:ea typeface="Calibri" pitchFamily="34" charset="-122"/>
                <a:cs typeface="Calibri" pitchFamily="34" charset="-120"/>
              </a:rPr>
              <a:t>Read each patient case</a:t>
            </a:r>
            <a:endParaRPr lang="en-US" sz="1200" dirty="0"/>
          </a:p>
        </p:txBody>
      </p:sp>
      <p:sp>
        <p:nvSpPr>
          <p:cNvPr id="13" name="Text 11"/>
          <p:cNvSpPr/>
          <p:nvPr/>
        </p:nvSpPr>
        <p:spPr>
          <a:xfrm>
            <a:off x="3291840" y="4572000"/>
            <a:ext cx="2560320" cy="365760"/>
          </a:xfrm>
          <a:prstGeom prst="rect">
            <a:avLst/>
          </a:prstGeom>
          <a:noFill/>
          <a:ln/>
        </p:spPr>
        <p:txBody>
          <a:bodyPr wrap="square" rtlCol="0" anchor="ctr"/>
          <a:lstStyle/>
          <a:p>
            <a:pPr algn="ctr" indent="0" marL="0">
              <a:buNone/>
            </a:pPr>
            <a:r>
              <a:rPr lang="en-US" sz="1000" dirty="0">
                <a:solidFill>
                  <a:srgbClr val="8A8AAA"/>
                </a:solidFill>
                <a:latin typeface="Calibri" pitchFamily="34" charset="0"/>
                <a:ea typeface="Calibri" pitchFamily="34" charset="-122"/>
                <a:cs typeface="Calibri" pitchFamily="34" charset="-120"/>
              </a:rPr>
              <a:t>Vitals, symptoms, current diagnosis</a:t>
            </a:r>
            <a:endParaRPr lang="en-US" sz="1000" dirty="0"/>
          </a:p>
        </p:txBody>
      </p:sp>
      <p:sp>
        <p:nvSpPr>
          <p:cNvPr id="14" name="Shape 12"/>
          <p:cNvSpPr/>
          <p:nvPr/>
        </p:nvSpPr>
        <p:spPr>
          <a:xfrm>
            <a:off x="6949440" y="3566160"/>
            <a:ext cx="594360" cy="594360"/>
          </a:xfrm>
          <a:prstGeom prst="ellipse">
            <a:avLst/>
          </a:prstGeom>
          <a:solidFill>
            <a:srgbClr val="FF6B6B"/>
          </a:solidFill>
          <a:ln w="12700">
            <a:solidFill>
              <a:srgbClr val="FF6B6B"/>
            </a:solidFill>
            <a:prstDash val="solid"/>
          </a:ln>
        </p:spPr>
      </p:sp>
      <p:sp>
        <p:nvSpPr>
          <p:cNvPr id="15" name="Text 13"/>
          <p:cNvSpPr/>
          <p:nvPr/>
        </p:nvSpPr>
        <p:spPr>
          <a:xfrm>
            <a:off x="6949440" y="356616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p:nvPr/>
        </p:nvSpPr>
        <p:spPr>
          <a:xfrm>
            <a:off x="6126480" y="4251960"/>
            <a:ext cx="2560320" cy="320040"/>
          </a:xfrm>
          <a:prstGeom prst="rect">
            <a:avLst/>
          </a:prstGeom>
          <a:noFill/>
          <a:ln/>
        </p:spPr>
        <p:txBody>
          <a:bodyPr wrap="square" rtlCol="0" anchor="ctr"/>
          <a:lstStyle/>
          <a:p>
            <a:pPr algn="ctr" indent="0" marL="0">
              <a:buNone/>
            </a:pPr>
            <a:r>
              <a:rPr lang="en-US" sz="1200" b="1" dirty="0">
                <a:solidFill>
                  <a:srgbClr val="EDE9F8"/>
                </a:solidFill>
                <a:latin typeface="Calibri" pitchFamily="34" charset="0"/>
                <a:ea typeface="Calibri" pitchFamily="34" charset="-122"/>
                <a:cs typeface="Calibri" pitchFamily="34" charset="-120"/>
              </a:rPr>
              <a:t>Adjust the calibration sliders</a:t>
            </a:r>
            <a:endParaRPr lang="en-US" sz="1200" dirty="0"/>
          </a:p>
        </p:txBody>
      </p:sp>
      <p:sp>
        <p:nvSpPr>
          <p:cNvPr id="17" name="Text 15"/>
          <p:cNvSpPr/>
          <p:nvPr/>
        </p:nvSpPr>
        <p:spPr>
          <a:xfrm>
            <a:off x="6126480" y="4572000"/>
            <a:ext cx="2560320" cy="365760"/>
          </a:xfrm>
          <a:prstGeom prst="rect">
            <a:avLst/>
          </a:prstGeom>
          <a:noFill/>
          <a:ln/>
        </p:spPr>
        <p:txBody>
          <a:bodyPr wrap="square" rtlCol="0" anchor="ctr"/>
          <a:lstStyle/>
          <a:p>
            <a:pPr algn="ctr" indent="0" marL="0">
              <a:buNone/>
            </a:pPr>
            <a:r>
              <a:rPr lang="en-US" sz="1000" dirty="0">
                <a:solidFill>
                  <a:srgbClr val="8A8AAA"/>
                </a:solidFill>
                <a:latin typeface="Calibri" pitchFamily="34" charset="0"/>
                <a:ea typeface="Calibri" pitchFamily="34" charset="-122"/>
                <a:cs typeface="Calibri" pitchFamily="34" charset="-120"/>
              </a:rPr>
              <a:t>Troponin, bone density, metabolic model, cycle tracking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31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6B"/>
          </a:solidFill>
          <a:ln w="12700">
            <a:solidFill>
              <a:srgbClr val="FF6B6B"/>
            </a:solidFill>
            <a:prstDash val="solid"/>
          </a:ln>
        </p:spPr>
      </p:sp>
      <p:sp>
        <p:nvSpPr>
          <p:cNvPr id="3" name="Text 1"/>
          <p:cNvSpPr/>
          <p:nvPr/>
        </p:nvSpPr>
        <p:spPr>
          <a:xfrm>
            <a:off x="457200" y="182880"/>
            <a:ext cx="8229600" cy="347472"/>
          </a:xfrm>
          <a:prstGeom prst="rect">
            <a:avLst/>
          </a:prstGeom>
          <a:noFill/>
          <a:ln/>
        </p:spPr>
        <p:txBody>
          <a:bodyPr wrap="square" rtlCol="0" anchor="ctr"/>
          <a:lstStyle/>
          <a:p>
            <a:pPr indent="0" marL="0">
              <a:buNone/>
            </a:pPr>
            <a:r>
              <a:rPr lang="en-US" sz="1000" b="1" spc="400" kern="0" dirty="0">
                <a:solidFill>
                  <a:srgbClr val="FF6B6B"/>
                </a:solidFill>
                <a:latin typeface="Calibri" pitchFamily="34" charset="0"/>
                <a:ea typeface="Calibri" pitchFamily="34" charset="-122"/>
                <a:cs typeface="Calibri" pitchFamily="34" charset="-120"/>
              </a:rPr>
              <a:t>THE DATA BEHIND THE STORIES</a:t>
            </a:r>
            <a:endParaRPr lang="en-US" sz="1000" dirty="0"/>
          </a:p>
        </p:txBody>
      </p:sp>
      <p:sp>
        <p:nvSpPr>
          <p:cNvPr id="4" name="Text 2"/>
          <p:cNvSpPr/>
          <p:nvPr/>
        </p:nvSpPr>
        <p:spPr>
          <a:xfrm>
            <a:off x="457200" y="548640"/>
            <a:ext cx="8229600" cy="457200"/>
          </a:xfrm>
          <a:prstGeom prst="rect">
            <a:avLst/>
          </a:prstGeom>
          <a:noFill/>
          <a:ln/>
        </p:spPr>
        <p:txBody>
          <a:bodyPr wrap="square" rtlCol="0" anchor="ctr"/>
          <a:lstStyle/>
          <a:p>
            <a:pPr indent="0" marL="0">
              <a:buNone/>
            </a:pPr>
            <a:r>
              <a:rPr lang="en-US" sz="2200" dirty="0">
                <a:solidFill>
                  <a:srgbClr val="EDE9F8"/>
                </a:solidFill>
                <a:latin typeface="Georgia" pitchFamily="34" charset="0"/>
                <a:ea typeface="Georgia" pitchFamily="34" charset="-122"/>
                <a:cs typeface="Georgia" pitchFamily="34" charset="-120"/>
              </a:rPr>
              <a:t>This is not anecdote. This is global healthcare data.</a:t>
            </a:r>
            <a:endParaRPr lang="en-US" sz="2200" dirty="0"/>
          </a:p>
        </p:txBody>
      </p:sp>
      <p:graphicFrame>
        <p:nvGraphicFramePr>
          <p:cNvPr id="5" name="Chart 0" descr=""/>
          <p:cNvGraphicFramePr/>
          <p:nvPr/>
        </p:nvGraphicFramePr>
        <p:xfrm>
          <a:off x="365760" y="1143000"/>
          <a:ext cx="420624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754880" y="1005840"/>
          <a:ext cx="4114800" cy="30175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457200" y="4828032"/>
            <a:ext cx="8229600" cy="228600"/>
          </a:xfrm>
          <a:prstGeom prst="rect">
            <a:avLst/>
          </a:prstGeom>
          <a:noFill/>
          <a:ln/>
        </p:spPr>
        <p:txBody>
          <a:bodyPr wrap="square" rtlCol="0" anchor="ctr"/>
          <a:lstStyle/>
          <a:p>
            <a:pPr algn="ctr" indent="0" marL="0">
              <a:buNone/>
            </a:pPr>
            <a:r>
              <a:rPr lang="en-US" sz="800" i="1" dirty="0">
                <a:solidFill>
                  <a:srgbClr val="8A8AAA"/>
                </a:solidFill>
                <a:latin typeface="Calibri" pitchFamily="34" charset="0"/>
                <a:ea typeface="Calibri" pitchFamily="34" charset="-122"/>
                <a:cs typeface="Calibri" pitchFamily="34" charset="-120"/>
              </a:rPr>
              <a:t>Sources: BMJ Open · WHO Health Report · FDA Drug Safety Surveillance · Lancet Women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0" y="457200"/>
            <a:ext cx="9144000" cy="3200400"/>
          </a:xfrm>
          <a:prstGeom prst="rect">
            <a:avLst/>
          </a:prstGeom>
          <a:noFill/>
          <a:ln/>
        </p:spPr>
        <p:txBody>
          <a:bodyPr wrap="square" rtlCol="0" anchor="ctr"/>
          <a:lstStyle/>
          <a:p>
            <a:pPr algn="ctr" indent="0" marL="0">
              <a:buNone/>
            </a:pPr>
            <a:r>
              <a:rPr lang="en-US" sz="22000" b="1" dirty="0">
                <a:solidFill>
                  <a:srgbClr val="FF6B6B">
                    <a:alpha val="6000"/>
                  </a:srgbClr>
                </a:solidFill>
                <a:latin typeface="Georgia" pitchFamily="34" charset="0"/>
                <a:ea typeface="Georgia" pitchFamily="34" charset="-122"/>
                <a:cs typeface="Georgia" pitchFamily="34" charset="-120"/>
              </a:rPr>
              <a:t>ACT</a:t>
            </a:r>
            <a:endParaRPr lang="en-US" sz="22000" dirty="0"/>
          </a:p>
        </p:txBody>
      </p:sp>
      <p:sp>
        <p:nvSpPr>
          <p:cNvPr id="3" name="Text 1"/>
          <p:cNvSpPr/>
          <p:nvPr/>
        </p:nvSpPr>
        <p:spPr>
          <a:xfrm>
            <a:off x="457200" y="228600"/>
            <a:ext cx="8229600" cy="347472"/>
          </a:xfrm>
          <a:prstGeom prst="rect">
            <a:avLst/>
          </a:prstGeom>
          <a:noFill/>
          <a:ln/>
        </p:spPr>
        <p:txBody>
          <a:bodyPr wrap="square" rtlCol="0" anchor="ctr"/>
          <a:lstStyle/>
          <a:p>
            <a:pPr algn="ctr" indent="0" marL="0">
              <a:buNone/>
            </a:pPr>
            <a:r>
              <a:rPr lang="en-US" sz="1000" b="1" spc="500" kern="0" dirty="0">
                <a:solidFill>
                  <a:srgbClr val="FF6B6B"/>
                </a:solidFill>
                <a:latin typeface="Calibri" pitchFamily="34" charset="0"/>
                <a:ea typeface="Calibri" pitchFamily="34" charset="-122"/>
                <a:cs typeface="Calibri" pitchFamily="34" charset="-120"/>
              </a:rPr>
              <a:t>WHAT WE DO NOW</a:t>
            </a:r>
            <a:endParaRPr lang="en-US" sz="1000" dirty="0"/>
          </a:p>
        </p:txBody>
      </p:sp>
      <p:sp>
        <p:nvSpPr>
          <p:cNvPr id="4" name="Text 2"/>
          <p:cNvSpPr/>
          <p:nvPr/>
        </p:nvSpPr>
        <p:spPr>
          <a:xfrm>
            <a:off x="457200" y="640080"/>
            <a:ext cx="8229600" cy="548640"/>
          </a:xfrm>
          <a:prstGeom prst="rect">
            <a:avLst/>
          </a:prstGeom>
          <a:noFill/>
          <a:ln/>
        </p:spPr>
        <p:txBody>
          <a:bodyPr wrap="square" rtlCol="0" anchor="ctr"/>
          <a:lstStyle/>
          <a:p>
            <a:pPr algn="ctr" indent="0" marL="0">
              <a:buNone/>
            </a:pPr>
            <a:r>
              <a:rPr lang="en-US" sz="3000" b="1" dirty="0">
                <a:solidFill>
                  <a:srgbClr val="EDE9F8"/>
                </a:solidFill>
                <a:latin typeface="Georgia" pitchFamily="34" charset="0"/>
                <a:ea typeface="Georgia" pitchFamily="34" charset="-122"/>
                <a:cs typeface="Georgia" pitchFamily="34" charset="-120"/>
              </a:rPr>
              <a:t>Five ways to change this.</a:t>
            </a:r>
            <a:endParaRPr lang="en-US" sz="3000" dirty="0"/>
          </a:p>
        </p:txBody>
      </p:sp>
      <p:sp>
        <p:nvSpPr>
          <p:cNvPr id="5" name="Shape 3"/>
          <p:cNvSpPr/>
          <p:nvPr/>
        </p:nvSpPr>
        <p:spPr>
          <a:xfrm>
            <a:off x="457200" y="1371600"/>
            <a:ext cx="4023360" cy="141732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6" name="Shape 4"/>
          <p:cNvSpPr/>
          <p:nvPr/>
        </p:nvSpPr>
        <p:spPr>
          <a:xfrm>
            <a:off x="457200" y="1371600"/>
            <a:ext cx="4023360" cy="64008"/>
          </a:xfrm>
          <a:prstGeom prst="rect">
            <a:avLst/>
          </a:prstGeom>
          <a:solidFill>
            <a:srgbClr val="6BE8C8"/>
          </a:solidFill>
          <a:ln w="12700">
            <a:solidFill>
              <a:srgbClr val="6BE8C8"/>
            </a:solidFill>
            <a:prstDash val="solid"/>
          </a:ln>
        </p:spPr>
      </p:sp>
      <p:pic>
        <p:nvPicPr>
          <p:cNvPr id="7" name="Image 0" descr="preencoded.png">    </p:cNvPr>
          <p:cNvPicPr>
            <a:picLocks noChangeAspect="1"/>
          </p:cNvPicPr>
          <p:nvPr/>
        </p:nvPicPr>
        <p:blipFill>
          <a:blip r:embed="rId1"/>
          <a:stretch>
            <a:fillRect/>
          </a:stretch>
        </p:blipFill>
        <p:spPr>
          <a:xfrm>
            <a:off x="621792" y="1554480"/>
            <a:ext cx="438912" cy="438912"/>
          </a:xfrm>
          <a:prstGeom prst="rect">
            <a:avLst/>
          </a:prstGeom>
        </p:spPr>
      </p:pic>
      <p:sp>
        <p:nvSpPr>
          <p:cNvPr id="8" name="Text 5"/>
          <p:cNvSpPr/>
          <p:nvPr/>
        </p:nvSpPr>
        <p:spPr>
          <a:xfrm>
            <a:off x="1152144" y="1508760"/>
            <a:ext cx="3200400" cy="320040"/>
          </a:xfrm>
          <a:prstGeom prst="rect">
            <a:avLst/>
          </a:prstGeom>
          <a:noFill/>
          <a:ln/>
        </p:spPr>
        <p:txBody>
          <a:bodyPr wrap="square" lIns="0" tIns="0" rIns="0" bIns="0" rtlCol="0" anchor="ctr"/>
          <a:lstStyle/>
          <a:p>
            <a:pPr indent="0" marL="0">
              <a:buNone/>
            </a:pPr>
            <a:r>
              <a:rPr lang="en-US" sz="1200" b="1" dirty="0">
                <a:solidFill>
                  <a:srgbClr val="EDE9F8"/>
                </a:solidFill>
                <a:latin typeface="Calibri" pitchFamily="34" charset="0"/>
                <a:ea typeface="Calibri" pitchFamily="34" charset="-122"/>
                <a:cs typeface="Calibri" pitchFamily="34" charset="-120"/>
              </a:rPr>
              <a:t>Demand Inclusive Trials</a:t>
            </a:r>
            <a:endParaRPr lang="en-US" sz="1200" dirty="0"/>
          </a:p>
        </p:txBody>
      </p:sp>
      <p:sp>
        <p:nvSpPr>
          <p:cNvPr id="9" name="Text 6"/>
          <p:cNvSpPr/>
          <p:nvPr/>
        </p:nvSpPr>
        <p:spPr>
          <a:xfrm>
            <a:off x="1152144" y="1847088"/>
            <a:ext cx="3200400" cy="822960"/>
          </a:xfrm>
          <a:prstGeom prst="rect">
            <a:avLst/>
          </a:prstGeom>
          <a:noFill/>
          <a:ln/>
        </p:spPr>
        <p:txBody>
          <a:bodyPr wrap="square" lIns="0" tIns="0" rIns="0" bIns="0" rtlCol="0" anchor="ctr"/>
          <a:lstStyle/>
          <a:p>
            <a:pPr indent="0" marL="0">
              <a:buNone/>
            </a:pPr>
            <a:r>
              <a:rPr lang="en-US" sz="1000" dirty="0">
                <a:solidFill>
                  <a:srgbClr val="8A8AAA"/>
                </a:solidFill>
                <a:latin typeface="Calibri" pitchFamily="34" charset="0"/>
                <a:ea typeface="Calibri" pitchFamily="34" charset="-122"/>
                <a:cs typeface="Calibri" pitchFamily="34" charset="-120"/>
              </a:rPr>
              <a:t>Advocate for clinical research that mandates female inclusion and hormone-cycle analysis.</a:t>
            </a:r>
            <a:endParaRPr lang="en-US" sz="1000" dirty="0"/>
          </a:p>
        </p:txBody>
      </p:sp>
      <p:sp>
        <p:nvSpPr>
          <p:cNvPr id="10" name="Shape 7"/>
          <p:cNvSpPr/>
          <p:nvPr/>
        </p:nvSpPr>
        <p:spPr>
          <a:xfrm>
            <a:off x="4846320" y="1371600"/>
            <a:ext cx="4023360" cy="141732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11" name="Shape 8"/>
          <p:cNvSpPr/>
          <p:nvPr/>
        </p:nvSpPr>
        <p:spPr>
          <a:xfrm>
            <a:off x="4846320" y="1371600"/>
            <a:ext cx="4023360" cy="64008"/>
          </a:xfrm>
          <a:prstGeom prst="rect">
            <a:avLst/>
          </a:prstGeom>
          <a:solidFill>
            <a:srgbClr val="FF6B6B"/>
          </a:solidFill>
          <a:ln w="12700">
            <a:solidFill>
              <a:srgbClr val="FF6B6B"/>
            </a:solidFill>
            <a:prstDash val="solid"/>
          </a:ln>
        </p:spPr>
      </p:sp>
      <p:pic>
        <p:nvPicPr>
          <p:cNvPr id="12" name="Image 1" descr="preencoded.png">    </p:cNvPr>
          <p:cNvPicPr>
            <a:picLocks noChangeAspect="1"/>
          </p:cNvPicPr>
          <p:nvPr/>
        </p:nvPicPr>
        <p:blipFill>
          <a:blip r:embed="rId2"/>
          <a:stretch>
            <a:fillRect/>
          </a:stretch>
        </p:blipFill>
        <p:spPr>
          <a:xfrm>
            <a:off x="5010912" y="1554480"/>
            <a:ext cx="438912" cy="438912"/>
          </a:xfrm>
          <a:prstGeom prst="rect">
            <a:avLst/>
          </a:prstGeom>
        </p:spPr>
      </p:pic>
      <p:sp>
        <p:nvSpPr>
          <p:cNvPr id="13" name="Text 9"/>
          <p:cNvSpPr/>
          <p:nvPr/>
        </p:nvSpPr>
        <p:spPr>
          <a:xfrm>
            <a:off x="5541264" y="1508760"/>
            <a:ext cx="3200400" cy="320040"/>
          </a:xfrm>
          <a:prstGeom prst="rect">
            <a:avLst/>
          </a:prstGeom>
          <a:noFill/>
          <a:ln/>
        </p:spPr>
        <p:txBody>
          <a:bodyPr wrap="square" lIns="0" tIns="0" rIns="0" bIns="0" rtlCol="0" anchor="ctr"/>
          <a:lstStyle/>
          <a:p>
            <a:pPr indent="0" marL="0">
              <a:buNone/>
            </a:pPr>
            <a:r>
              <a:rPr lang="en-US" sz="1200" b="1" dirty="0">
                <a:solidFill>
                  <a:srgbClr val="EDE9F8"/>
                </a:solidFill>
                <a:latin typeface="Calibri" pitchFamily="34" charset="0"/>
                <a:ea typeface="Calibri" pitchFamily="34" charset="-122"/>
                <a:cs typeface="Calibri" pitchFamily="34" charset="-120"/>
              </a:rPr>
              <a:t>Build Female-First IoT</a:t>
            </a:r>
            <a:endParaRPr lang="en-US" sz="1200" dirty="0"/>
          </a:p>
        </p:txBody>
      </p:sp>
      <p:sp>
        <p:nvSpPr>
          <p:cNvPr id="14" name="Text 10"/>
          <p:cNvSpPr/>
          <p:nvPr/>
        </p:nvSpPr>
        <p:spPr>
          <a:xfrm>
            <a:off x="5541264" y="1847088"/>
            <a:ext cx="3200400" cy="822960"/>
          </a:xfrm>
          <a:prstGeom prst="rect">
            <a:avLst/>
          </a:prstGeom>
          <a:noFill/>
          <a:ln/>
        </p:spPr>
        <p:txBody>
          <a:bodyPr wrap="square" lIns="0" tIns="0" rIns="0" bIns="0" rtlCol="0" anchor="ctr"/>
          <a:lstStyle/>
          <a:p>
            <a:pPr indent="0" marL="0">
              <a:buNone/>
            </a:pPr>
            <a:r>
              <a:rPr lang="en-US" sz="1000" dirty="0">
                <a:solidFill>
                  <a:srgbClr val="8A8AAA"/>
                </a:solidFill>
                <a:latin typeface="Calibri" pitchFamily="34" charset="0"/>
                <a:ea typeface="Calibri" pitchFamily="34" charset="-122"/>
                <a:cs typeface="Calibri" pitchFamily="34" charset="-120"/>
              </a:rPr>
              <a:t>When you design health devices, set female biology as the default. Not as an afterthought.</a:t>
            </a:r>
            <a:endParaRPr lang="en-US" sz="1000" dirty="0"/>
          </a:p>
        </p:txBody>
      </p:sp>
      <p:sp>
        <p:nvSpPr>
          <p:cNvPr id="15" name="Shape 11"/>
          <p:cNvSpPr/>
          <p:nvPr/>
        </p:nvSpPr>
        <p:spPr>
          <a:xfrm>
            <a:off x="365760" y="2971800"/>
            <a:ext cx="2651760" cy="141732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16" name="Shape 12"/>
          <p:cNvSpPr/>
          <p:nvPr/>
        </p:nvSpPr>
        <p:spPr>
          <a:xfrm>
            <a:off x="365760" y="2971800"/>
            <a:ext cx="2651760" cy="64008"/>
          </a:xfrm>
          <a:prstGeom prst="rect">
            <a:avLst/>
          </a:prstGeom>
          <a:solidFill>
            <a:srgbClr val="F4C67A"/>
          </a:solidFill>
          <a:ln w="12700">
            <a:solidFill>
              <a:srgbClr val="F4C67A"/>
            </a:solidFill>
            <a:prstDash val="solid"/>
          </a:ln>
        </p:spPr>
      </p:sp>
      <p:pic>
        <p:nvPicPr>
          <p:cNvPr id="17" name="Image 2" descr="preencoded.png">    </p:cNvPr>
          <p:cNvPicPr>
            <a:picLocks noChangeAspect="1"/>
          </p:cNvPicPr>
          <p:nvPr/>
        </p:nvPicPr>
        <p:blipFill>
          <a:blip r:embed="rId3"/>
          <a:stretch>
            <a:fillRect/>
          </a:stretch>
        </p:blipFill>
        <p:spPr>
          <a:xfrm>
            <a:off x="530352" y="3154680"/>
            <a:ext cx="438912" cy="438912"/>
          </a:xfrm>
          <a:prstGeom prst="rect">
            <a:avLst/>
          </a:prstGeom>
        </p:spPr>
      </p:pic>
      <p:sp>
        <p:nvSpPr>
          <p:cNvPr id="18" name="Text 13"/>
          <p:cNvSpPr/>
          <p:nvPr/>
        </p:nvSpPr>
        <p:spPr>
          <a:xfrm>
            <a:off x="1060704" y="3108960"/>
            <a:ext cx="1828800" cy="320040"/>
          </a:xfrm>
          <a:prstGeom prst="rect">
            <a:avLst/>
          </a:prstGeom>
          <a:noFill/>
          <a:ln/>
        </p:spPr>
        <p:txBody>
          <a:bodyPr wrap="square" lIns="0" tIns="0" rIns="0" bIns="0" rtlCol="0" anchor="ctr"/>
          <a:lstStyle/>
          <a:p>
            <a:pPr indent="0" marL="0">
              <a:buNone/>
            </a:pPr>
            <a:r>
              <a:rPr lang="en-US" sz="1200" b="1" dirty="0">
                <a:solidFill>
                  <a:srgbClr val="EDE9F8"/>
                </a:solidFill>
                <a:latin typeface="Calibri" pitchFamily="34" charset="0"/>
                <a:ea typeface="Calibri" pitchFamily="34" charset="-122"/>
                <a:cs typeface="Calibri" pitchFamily="34" charset="-120"/>
              </a:rPr>
              <a:t>Audit Existing Devices</a:t>
            </a:r>
            <a:endParaRPr lang="en-US" sz="1200" dirty="0"/>
          </a:p>
        </p:txBody>
      </p:sp>
      <p:sp>
        <p:nvSpPr>
          <p:cNvPr id="19" name="Text 14"/>
          <p:cNvSpPr/>
          <p:nvPr/>
        </p:nvSpPr>
        <p:spPr>
          <a:xfrm>
            <a:off x="1060704" y="3447288"/>
            <a:ext cx="1828800" cy="822960"/>
          </a:xfrm>
          <a:prstGeom prst="rect">
            <a:avLst/>
          </a:prstGeom>
          <a:noFill/>
          <a:ln/>
        </p:spPr>
        <p:txBody>
          <a:bodyPr wrap="square" lIns="0" tIns="0" rIns="0" bIns="0" rtlCol="0" anchor="ctr"/>
          <a:lstStyle/>
          <a:p>
            <a:pPr indent="0" marL="0">
              <a:buNone/>
            </a:pPr>
            <a:r>
              <a:rPr lang="en-US" sz="1000" dirty="0">
                <a:solidFill>
                  <a:srgbClr val="8A8AAA"/>
                </a:solidFill>
                <a:latin typeface="Calibri" pitchFamily="34" charset="0"/>
                <a:ea typeface="Calibri" pitchFamily="34" charset="-122"/>
                <a:cs typeface="Calibri" pitchFamily="34" charset="-120"/>
              </a:rPr>
              <a:t>Review the calibration baselines of devices already in use — when were they last updated for female data?</a:t>
            </a:r>
            <a:endParaRPr lang="en-US" sz="1000" dirty="0"/>
          </a:p>
        </p:txBody>
      </p:sp>
      <p:sp>
        <p:nvSpPr>
          <p:cNvPr id="20" name="Shape 15"/>
          <p:cNvSpPr/>
          <p:nvPr/>
        </p:nvSpPr>
        <p:spPr>
          <a:xfrm>
            <a:off x="3246120" y="2971800"/>
            <a:ext cx="2651760" cy="141732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21" name="Shape 16"/>
          <p:cNvSpPr/>
          <p:nvPr/>
        </p:nvSpPr>
        <p:spPr>
          <a:xfrm>
            <a:off x="3246120" y="2971800"/>
            <a:ext cx="2651760" cy="64008"/>
          </a:xfrm>
          <a:prstGeom prst="rect">
            <a:avLst/>
          </a:prstGeom>
          <a:solidFill>
            <a:srgbClr val="44DD88"/>
          </a:solidFill>
          <a:ln w="12700">
            <a:solidFill>
              <a:srgbClr val="44DD88"/>
            </a:solidFill>
            <a:prstDash val="solid"/>
          </a:ln>
        </p:spPr>
      </p:sp>
      <p:pic>
        <p:nvPicPr>
          <p:cNvPr id="22" name="Image 3" descr="preencoded.png">    </p:cNvPr>
          <p:cNvPicPr>
            <a:picLocks noChangeAspect="1"/>
          </p:cNvPicPr>
          <p:nvPr/>
        </p:nvPicPr>
        <p:blipFill>
          <a:blip r:embed="rId4"/>
          <a:stretch>
            <a:fillRect/>
          </a:stretch>
        </p:blipFill>
        <p:spPr>
          <a:xfrm>
            <a:off x="3410712" y="3154680"/>
            <a:ext cx="438912" cy="438912"/>
          </a:xfrm>
          <a:prstGeom prst="rect">
            <a:avLst/>
          </a:prstGeom>
        </p:spPr>
      </p:pic>
      <p:sp>
        <p:nvSpPr>
          <p:cNvPr id="23" name="Text 17"/>
          <p:cNvSpPr/>
          <p:nvPr/>
        </p:nvSpPr>
        <p:spPr>
          <a:xfrm>
            <a:off x="3941064" y="3108960"/>
            <a:ext cx="1828800" cy="320040"/>
          </a:xfrm>
          <a:prstGeom prst="rect">
            <a:avLst/>
          </a:prstGeom>
          <a:noFill/>
          <a:ln/>
        </p:spPr>
        <p:txBody>
          <a:bodyPr wrap="square" lIns="0" tIns="0" rIns="0" bIns="0" rtlCol="0" anchor="ctr"/>
          <a:lstStyle/>
          <a:p>
            <a:pPr indent="0" marL="0">
              <a:buNone/>
            </a:pPr>
            <a:r>
              <a:rPr lang="en-US" sz="1200" b="1" dirty="0">
                <a:solidFill>
                  <a:srgbClr val="EDE9F8"/>
                </a:solidFill>
                <a:latin typeface="Calibri" pitchFamily="34" charset="0"/>
                <a:ea typeface="Calibri" pitchFamily="34" charset="-122"/>
                <a:cs typeface="Calibri" pitchFamily="34" charset="-120"/>
              </a:rPr>
              <a:t>Train the Algorithm</a:t>
            </a:r>
            <a:endParaRPr lang="en-US" sz="1200" dirty="0"/>
          </a:p>
        </p:txBody>
      </p:sp>
      <p:sp>
        <p:nvSpPr>
          <p:cNvPr id="24" name="Text 18"/>
          <p:cNvSpPr/>
          <p:nvPr/>
        </p:nvSpPr>
        <p:spPr>
          <a:xfrm>
            <a:off x="3941064" y="3447288"/>
            <a:ext cx="1828800" cy="822960"/>
          </a:xfrm>
          <a:prstGeom prst="rect">
            <a:avLst/>
          </a:prstGeom>
          <a:noFill/>
          <a:ln/>
        </p:spPr>
        <p:txBody>
          <a:bodyPr wrap="square" lIns="0" tIns="0" rIns="0" bIns="0" rtlCol="0" anchor="ctr"/>
          <a:lstStyle/>
          <a:p>
            <a:pPr indent="0" marL="0">
              <a:buNone/>
            </a:pPr>
            <a:r>
              <a:rPr lang="en-US" sz="1000" dirty="0">
                <a:solidFill>
                  <a:srgbClr val="8A8AAA"/>
                </a:solidFill>
                <a:latin typeface="Calibri" pitchFamily="34" charset="0"/>
                <a:ea typeface="Calibri" pitchFamily="34" charset="-122"/>
                <a:cs typeface="Calibri" pitchFamily="34" charset="-120"/>
              </a:rPr>
              <a:t>Contribute to or push for open datasets that include diverse female health data for AI training.</a:t>
            </a:r>
            <a:endParaRPr lang="en-US" sz="1000" dirty="0"/>
          </a:p>
        </p:txBody>
      </p:sp>
      <p:sp>
        <p:nvSpPr>
          <p:cNvPr id="25" name="Shape 19"/>
          <p:cNvSpPr/>
          <p:nvPr/>
        </p:nvSpPr>
        <p:spPr>
          <a:xfrm>
            <a:off x="6126480" y="2971800"/>
            <a:ext cx="2651760" cy="1417320"/>
          </a:xfrm>
          <a:prstGeom prst="rect">
            <a:avLst/>
          </a:prstGeom>
          <a:solidFill>
            <a:srgbClr val="1A1A28"/>
          </a:solidFill>
          <a:ln w="12700">
            <a:solidFill>
              <a:srgbClr val="2A2A3A"/>
            </a:solidFill>
            <a:prstDash val="solid"/>
          </a:ln>
          <a:effectLst>
            <a:outerShdw sx="100000" sy="100000" kx="0" ky="0" algn="bl" rotWithShape="0" blurRad="127000" dist="38100" dir="8100000">
              <a:srgbClr val="000000">
                <a:alpha val="25000"/>
              </a:srgbClr>
            </a:outerShdw>
          </a:effectLst>
        </p:spPr>
      </p:sp>
      <p:sp>
        <p:nvSpPr>
          <p:cNvPr id="26" name="Shape 20"/>
          <p:cNvSpPr/>
          <p:nvPr/>
        </p:nvSpPr>
        <p:spPr>
          <a:xfrm>
            <a:off x="6126480" y="2971800"/>
            <a:ext cx="2651760" cy="64008"/>
          </a:xfrm>
          <a:prstGeom prst="rect">
            <a:avLst/>
          </a:prstGeom>
          <a:solidFill>
            <a:srgbClr val="E8536A"/>
          </a:solidFill>
          <a:ln w="12700">
            <a:solidFill>
              <a:srgbClr val="E8536A"/>
            </a:solidFill>
            <a:prstDash val="solid"/>
          </a:ln>
        </p:spPr>
      </p:sp>
      <p:pic>
        <p:nvPicPr>
          <p:cNvPr id="27" name="Image 4" descr="preencoded.png">    </p:cNvPr>
          <p:cNvPicPr>
            <a:picLocks noChangeAspect="1"/>
          </p:cNvPicPr>
          <p:nvPr/>
        </p:nvPicPr>
        <p:blipFill>
          <a:blip r:embed="rId5"/>
          <a:stretch>
            <a:fillRect/>
          </a:stretch>
        </p:blipFill>
        <p:spPr>
          <a:xfrm>
            <a:off x="6291072" y="3154680"/>
            <a:ext cx="438912" cy="438912"/>
          </a:xfrm>
          <a:prstGeom prst="rect">
            <a:avLst/>
          </a:prstGeom>
        </p:spPr>
      </p:pic>
      <p:sp>
        <p:nvSpPr>
          <p:cNvPr id="28" name="Text 21"/>
          <p:cNvSpPr/>
          <p:nvPr/>
        </p:nvSpPr>
        <p:spPr>
          <a:xfrm>
            <a:off x="6821424" y="3108960"/>
            <a:ext cx="1828800" cy="320040"/>
          </a:xfrm>
          <a:prstGeom prst="rect">
            <a:avLst/>
          </a:prstGeom>
          <a:noFill/>
          <a:ln/>
        </p:spPr>
        <p:txBody>
          <a:bodyPr wrap="square" lIns="0" tIns="0" rIns="0" bIns="0" rtlCol="0" anchor="ctr"/>
          <a:lstStyle/>
          <a:p>
            <a:pPr indent="0" marL="0">
              <a:buNone/>
            </a:pPr>
            <a:r>
              <a:rPr lang="en-US" sz="1200" b="1" dirty="0">
                <a:solidFill>
                  <a:srgbClr val="EDE9F8"/>
                </a:solidFill>
                <a:latin typeface="Calibri" pitchFamily="34" charset="0"/>
                <a:ea typeface="Calibri" pitchFamily="34" charset="-122"/>
                <a:cs typeface="Calibri" pitchFamily="34" charset="-120"/>
              </a:rPr>
              <a:t>Tell This Story</a:t>
            </a:r>
            <a:endParaRPr lang="en-US" sz="1200" dirty="0"/>
          </a:p>
        </p:txBody>
      </p:sp>
      <p:sp>
        <p:nvSpPr>
          <p:cNvPr id="29" name="Text 22"/>
          <p:cNvSpPr/>
          <p:nvPr/>
        </p:nvSpPr>
        <p:spPr>
          <a:xfrm>
            <a:off x="6821424" y="3447288"/>
            <a:ext cx="1828800" cy="822960"/>
          </a:xfrm>
          <a:prstGeom prst="rect">
            <a:avLst/>
          </a:prstGeom>
          <a:noFill/>
          <a:ln/>
        </p:spPr>
        <p:txBody>
          <a:bodyPr wrap="square" lIns="0" tIns="0" rIns="0" bIns="0" rtlCol="0" anchor="ctr"/>
          <a:lstStyle/>
          <a:p>
            <a:pPr indent="0" marL="0">
              <a:buNone/>
            </a:pPr>
            <a:r>
              <a:rPr lang="en-US" sz="1000" dirty="0">
                <a:solidFill>
                  <a:srgbClr val="8A8AAA"/>
                </a:solidFill>
                <a:latin typeface="Calibri" pitchFamily="34" charset="0"/>
                <a:ea typeface="Calibri" pitchFamily="34" charset="-122"/>
                <a:cs typeface="Calibri" pitchFamily="34" charset="-120"/>
              </a:rPr>
              <a:t>Share what you learned today. The first step to fixing the Pill Problem is knowing it exists.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10808"/>
          </a:solidFill>
          <a:ln w="12700">
            <a:solidFill>
              <a:srgbClr val="110808"/>
            </a:solidFill>
            <a:prstDash val="solid"/>
          </a:ln>
        </p:spPr>
      </p:sp>
      <p:sp>
        <p:nvSpPr>
          <p:cNvPr id="3" name="Shape 1"/>
          <p:cNvSpPr/>
          <p:nvPr/>
        </p:nvSpPr>
        <p:spPr>
          <a:xfrm>
            <a:off x="0" y="0"/>
            <a:ext cx="137160" cy="5143500"/>
          </a:xfrm>
          <a:prstGeom prst="rect">
            <a:avLst/>
          </a:prstGeom>
          <a:solidFill>
            <a:srgbClr val="FF6B6B"/>
          </a:solidFill>
          <a:ln w="12700">
            <a:solidFill>
              <a:srgbClr val="FF6B6B"/>
            </a:solidFill>
            <a:prstDash val="solid"/>
          </a:ln>
        </p:spPr>
      </p:sp>
      <p:sp>
        <p:nvSpPr>
          <p:cNvPr id="4" name="Text 2"/>
          <p:cNvSpPr/>
          <p:nvPr/>
        </p:nvSpPr>
        <p:spPr>
          <a:xfrm>
            <a:off x="365760" y="548640"/>
            <a:ext cx="3474720" cy="2926080"/>
          </a:xfrm>
          <a:prstGeom prst="rect">
            <a:avLst/>
          </a:prstGeom>
          <a:noFill/>
          <a:ln/>
        </p:spPr>
        <p:txBody>
          <a:bodyPr wrap="square" rtlCol="0" anchor="ctr"/>
          <a:lstStyle/>
          <a:p>
            <a:pPr indent="0" marL="0">
              <a:lnSpc>
                <a:spcPct val="140000"/>
              </a:lnSpc>
              <a:buNone/>
            </a:pPr>
            <a:r>
              <a:rPr lang="en-US" sz="2200" i="1" dirty="0">
                <a:solidFill>
                  <a:srgbClr val="EDE9F8"/>
                </a:solidFill>
                <a:latin typeface="Georgia" pitchFamily="34" charset="0"/>
                <a:ea typeface="Georgia" pitchFamily="34" charset="-122"/>
                <a:cs typeface="Georgia" pitchFamily="34" charset="-120"/>
              </a:rPr>
              <a:t>"The first step</a:t>
            </a:r>
            <a:endParaRPr lang="en-US" sz="2200" dirty="0"/>
          </a:p>
          <a:p>
            <a:pPr indent="0" marL="0">
              <a:lnSpc>
                <a:spcPct val="140000"/>
              </a:lnSpc>
              <a:buNone/>
            </a:pPr>
            <a:r>
              <a:rPr lang="en-US" sz="2200" i="1" dirty="0">
                <a:solidFill>
                  <a:srgbClr val="EDE9F8"/>
                </a:solidFill>
                <a:latin typeface="Georgia" pitchFamily="34" charset="0"/>
                <a:ea typeface="Georgia" pitchFamily="34" charset="-122"/>
                <a:cs typeface="Georgia" pitchFamily="34" charset="-120"/>
              </a:rPr>
              <a:t>to fixing a flaw</a:t>
            </a:r>
            <a:endParaRPr lang="en-US" sz="2200" dirty="0"/>
          </a:p>
          <a:p>
            <a:pPr indent="0" marL="0">
              <a:lnSpc>
                <a:spcPct val="140000"/>
              </a:lnSpc>
              <a:buNone/>
            </a:pPr>
            <a:r>
              <a:rPr lang="en-US" sz="2200" i="1" dirty="0">
                <a:solidFill>
                  <a:srgbClr val="EDE9F8"/>
                </a:solidFill>
                <a:latin typeface="Georgia" pitchFamily="34" charset="0"/>
                <a:ea typeface="Georgia" pitchFamily="34" charset="-122"/>
                <a:cs typeface="Georgia" pitchFamily="34" charset="-120"/>
              </a:rPr>
              <a:t>in a system is</a:t>
            </a:r>
            <a:endParaRPr lang="en-US" sz="2200" dirty="0"/>
          </a:p>
          <a:p>
            <a:pPr indent="0" marL="0">
              <a:lnSpc>
                <a:spcPct val="140000"/>
              </a:lnSpc>
              <a:buNone/>
            </a:pPr>
            <a:r>
              <a:rPr lang="en-US" sz="2200" i="1" dirty="0">
                <a:solidFill>
                  <a:srgbClr val="EDE9F8"/>
                </a:solidFill>
                <a:latin typeface="Georgia" pitchFamily="34" charset="0"/>
                <a:ea typeface="Georgia" pitchFamily="34" charset="-122"/>
                <a:cs typeface="Georgia" pitchFamily="34" charset="-120"/>
              </a:rPr>
              <a:t>knowing it exists."</a:t>
            </a:r>
            <a:endParaRPr lang="en-US" sz="2200" dirty="0"/>
          </a:p>
        </p:txBody>
      </p:sp>
      <p:sp>
        <p:nvSpPr>
          <p:cNvPr id="5" name="Text 3"/>
          <p:cNvSpPr/>
          <p:nvPr/>
        </p:nvSpPr>
        <p:spPr>
          <a:xfrm>
            <a:off x="365760" y="3566160"/>
            <a:ext cx="3474720" cy="365760"/>
          </a:xfrm>
          <a:prstGeom prst="rect">
            <a:avLst/>
          </a:prstGeom>
          <a:noFill/>
          <a:ln/>
        </p:spPr>
        <p:txBody>
          <a:bodyPr wrap="square" rtlCol="0" anchor="ctr"/>
          <a:lstStyle/>
          <a:p>
            <a:pPr indent="0" marL="0">
              <a:buNone/>
            </a:pPr>
            <a:r>
              <a:rPr lang="en-US" sz="1200" dirty="0">
                <a:solidFill>
                  <a:srgbClr val="FF6B6B"/>
                </a:solidFill>
                <a:latin typeface="Calibri" pitchFamily="34" charset="0"/>
                <a:ea typeface="Calibri" pitchFamily="34" charset="-122"/>
                <a:cs typeface="Calibri" pitchFamily="34" charset="-120"/>
              </a:rPr>
              <a:t>— The Pill Problem, 2025</a:t>
            </a:r>
            <a:endParaRPr lang="en-US" sz="1200" dirty="0"/>
          </a:p>
        </p:txBody>
      </p:sp>
      <p:pic>
        <p:nvPicPr>
          <p:cNvPr id="6" name="Image 0" descr="preencoded.png">    </p:cNvPr>
          <p:cNvPicPr>
            <a:picLocks noChangeAspect="1"/>
          </p:cNvPicPr>
          <p:nvPr/>
        </p:nvPicPr>
        <p:blipFill>
          <a:blip r:embed="rId1"/>
          <a:stretch>
            <a:fillRect/>
          </a:stretch>
        </p:blipFill>
        <p:spPr>
          <a:xfrm>
            <a:off x="457200" y="4114800"/>
            <a:ext cx="640080" cy="640080"/>
          </a:xfrm>
          <a:prstGeom prst="rect">
            <a:avLst/>
          </a:prstGeom>
        </p:spPr>
      </p:pic>
      <p:sp>
        <p:nvSpPr>
          <p:cNvPr id="7" name="Text 4"/>
          <p:cNvSpPr/>
          <p:nvPr/>
        </p:nvSpPr>
        <p:spPr>
          <a:xfrm>
            <a:off x="1188720" y="4160520"/>
            <a:ext cx="2560320" cy="502920"/>
          </a:xfrm>
          <a:prstGeom prst="rect">
            <a:avLst/>
          </a:prstGeom>
          <a:noFill/>
          <a:ln/>
        </p:spPr>
        <p:txBody>
          <a:bodyPr wrap="square" lIns="0" tIns="0" rIns="0" bIns="0" rtlCol="0" anchor="ctr"/>
          <a:lstStyle/>
          <a:p>
            <a:pPr indent="0" marL="0">
              <a:buNone/>
            </a:pPr>
            <a:r>
              <a:rPr lang="en-US" sz="1600" i="1" dirty="0">
                <a:solidFill>
                  <a:srgbClr val="E8536A"/>
                </a:solidFill>
                <a:latin typeface="Georgia" pitchFamily="34" charset="0"/>
                <a:ea typeface="Georgia" pitchFamily="34" charset="-122"/>
                <a:cs typeface="Georgia" pitchFamily="34" charset="-120"/>
              </a:rPr>
              <a:t>Happy Women's Day</a:t>
            </a:r>
            <a:endParaRPr lang="en-US" sz="1600" dirty="0"/>
          </a:p>
        </p:txBody>
      </p:sp>
      <p:sp>
        <p:nvSpPr>
          <p:cNvPr id="8" name="Text 5"/>
          <p:cNvSpPr/>
          <p:nvPr/>
        </p:nvSpPr>
        <p:spPr>
          <a:xfrm>
            <a:off x="4572000" y="320040"/>
            <a:ext cx="4206240" cy="347472"/>
          </a:xfrm>
          <a:prstGeom prst="rect">
            <a:avLst/>
          </a:prstGeom>
          <a:noFill/>
          <a:ln/>
        </p:spPr>
        <p:txBody>
          <a:bodyPr wrap="square" rtlCol="0" anchor="ctr"/>
          <a:lstStyle/>
          <a:p>
            <a:pPr indent="0" marL="0">
              <a:buNone/>
            </a:pPr>
            <a:r>
              <a:rPr lang="en-US" sz="900" b="1" spc="300" kern="0" dirty="0">
                <a:solidFill>
                  <a:srgbClr val="FF6B6B"/>
                </a:solidFill>
                <a:latin typeface="Calibri" pitchFamily="34" charset="0"/>
                <a:ea typeface="Calibri" pitchFamily="34" charset="-122"/>
                <a:cs typeface="Calibri" pitchFamily="34" charset="-120"/>
              </a:rPr>
              <a:t>WHAT YOU LEARNED TODAY</a:t>
            </a:r>
            <a:endParaRPr lang="en-US" sz="900" dirty="0"/>
          </a:p>
        </p:txBody>
      </p:sp>
      <p:pic>
        <p:nvPicPr>
          <p:cNvPr id="9" name="Image 1" descr="preencoded.png">    </p:cNvPr>
          <p:cNvPicPr>
            <a:picLocks noChangeAspect="1"/>
          </p:cNvPicPr>
          <p:nvPr/>
        </p:nvPicPr>
        <p:blipFill>
          <a:blip r:embed="rId2"/>
          <a:stretch>
            <a:fillRect/>
          </a:stretch>
        </p:blipFill>
        <p:spPr>
          <a:xfrm>
            <a:off x="4572000" y="822960"/>
            <a:ext cx="274320" cy="274320"/>
          </a:xfrm>
          <a:prstGeom prst="rect">
            <a:avLst/>
          </a:prstGeom>
        </p:spPr>
      </p:pic>
      <p:sp>
        <p:nvSpPr>
          <p:cNvPr id="10" name="Text 6"/>
          <p:cNvSpPr/>
          <p:nvPr/>
        </p:nvSpPr>
        <p:spPr>
          <a:xfrm>
            <a:off x="4956048" y="804672"/>
            <a:ext cx="3840480" cy="438912"/>
          </a:xfrm>
          <a:prstGeom prst="rect">
            <a:avLst/>
          </a:prstGeom>
          <a:noFill/>
          <a:ln/>
        </p:spPr>
        <p:txBody>
          <a:bodyPr wrap="square" lIns="0" tIns="0" rIns="0" bIns="0" rtlCol="0" anchor="ctr"/>
          <a:lstStyle/>
          <a:p>
            <a:pPr indent="0" marL="0">
              <a:buNone/>
            </a:pPr>
            <a:r>
              <a:rPr lang="en-US" sz="1200" dirty="0">
                <a:solidFill>
                  <a:srgbClr val="8A8AAA"/>
                </a:solidFill>
                <a:latin typeface="Calibri" pitchFamily="34" charset="0"/>
                <a:ea typeface="Calibri" pitchFamily="34" charset="-122"/>
                <a:cs typeface="Calibri" pitchFamily="34" charset="-120"/>
              </a:rPr>
              <a:t>Medical IoT devices were built on male clinical trial data</a:t>
            </a:r>
            <a:endParaRPr lang="en-US" sz="1200" dirty="0"/>
          </a:p>
        </p:txBody>
      </p:sp>
      <p:pic>
        <p:nvPicPr>
          <p:cNvPr id="11" name="Image 2" descr="preencoded.png">    </p:cNvPr>
          <p:cNvPicPr>
            <a:picLocks noChangeAspect="1"/>
          </p:cNvPicPr>
          <p:nvPr/>
        </p:nvPicPr>
        <p:blipFill>
          <a:blip r:embed="rId3"/>
          <a:stretch>
            <a:fillRect/>
          </a:stretch>
        </p:blipFill>
        <p:spPr>
          <a:xfrm>
            <a:off x="4572000" y="1389888"/>
            <a:ext cx="274320" cy="274320"/>
          </a:xfrm>
          <a:prstGeom prst="rect">
            <a:avLst/>
          </a:prstGeom>
        </p:spPr>
      </p:pic>
      <p:sp>
        <p:nvSpPr>
          <p:cNvPr id="12" name="Text 7"/>
          <p:cNvSpPr/>
          <p:nvPr/>
        </p:nvSpPr>
        <p:spPr>
          <a:xfrm>
            <a:off x="4956048" y="1371600"/>
            <a:ext cx="3840480" cy="438912"/>
          </a:xfrm>
          <a:prstGeom prst="rect">
            <a:avLst/>
          </a:prstGeom>
          <a:noFill/>
          <a:ln/>
        </p:spPr>
        <p:txBody>
          <a:bodyPr wrap="square" lIns="0" tIns="0" rIns="0" bIns="0" rtlCol="0" anchor="ctr"/>
          <a:lstStyle/>
          <a:p>
            <a:pPr indent="0" marL="0">
              <a:buNone/>
            </a:pPr>
            <a:r>
              <a:rPr lang="en-US" sz="1200" dirty="0">
                <a:solidFill>
                  <a:srgbClr val="8A8AAA"/>
                </a:solidFill>
                <a:latin typeface="Calibri" pitchFamily="34" charset="0"/>
                <a:ea typeface="Calibri" pitchFamily="34" charset="-122"/>
                <a:cs typeface="Calibri" pitchFamily="34" charset="-120"/>
              </a:rPr>
              <a:t>Women are misdiagnosed 43–70% more often depending on condition</a:t>
            </a:r>
            <a:endParaRPr lang="en-US" sz="1200" dirty="0"/>
          </a:p>
        </p:txBody>
      </p:sp>
      <p:pic>
        <p:nvPicPr>
          <p:cNvPr id="13" name="Image 3" descr="preencoded.png">    </p:cNvPr>
          <p:cNvPicPr>
            <a:picLocks noChangeAspect="1"/>
          </p:cNvPicPr>
          <p:nvPr/>
        </p:nvPicPr>
        <p:blipFill>
          <a:blip r:embed="rId4"/>
          <a:stretch>
            <a:fillRect/>
          </a:stretch>
        </p:blipFill>
        <p:spPr>
          <a:xfrm>
            <a:off x="4572000" y="1956816"/>
            <a:ext cx="274320" cy="274320"/>
          </a:xfrm>
          <a:prstGeom prst="rect">
            <a:avLst/>
          </a:prstGeom>
        </p:spPr>
      </p:pic>
      <p:sp>
        <p:nvSpPr>
          <p:cNvPr id="14" name="Text 8"/>
          <p:cNvSpPr/>
          <p:nvPr/>
        </p:nvSpPr>
        <p:spPr>
          <a:xfrm>
            <a:off x="4956048" y="1938528"/>
            <a:ext cx="3840480" cy="438912"/>
          </a:xfrm>
          <a:prstGeom prst="rect">
            <a:avLst/>
          </a:prstGeom>
          <a:noFill/>
          <a:ln/>
        </p:spPr>
        <p:txBody>
          <a:bodyPr wrap="square" lIns="0" tIns="0" rIns="0" bIns="0" rtlCol="0" anchor="ctr"/>
          <a:lstStyle/>
          <a:p>
            <a:pPr indent="0" marL="0">
              <a:buNone/>
            </a:pPr>
            <a:r>
              <a:rPr lang="en-US" sz="1200" dirty="0">
                <a:solidFill>
                  <a:srgbClr val="8A8AAA"/>
                </a:solidFill>
                <a:latin typeface="Calibri" pitchFamily="34" charset="0"/>
                <a:ea typeface="Calibri" pitchFamily="34" charset="-122"/>
                <a:cs typeface="Calibri" pitchFamily="34" charset="-120"/>
              </a:rPr>
              <a:t>Heart attack, bone density, and drug dosage algorithms all carry gender bias</a:t>
            </a:r>
            <a:endParaRPr lang="en-US" sz="1200" dirty="0"/>
          </a:p>
        </p:txBody>
      </p:sp>
      <p:pic>
        <p:nvPicPr>
          <p:cNvPr id="15" name="Image 4" descr="preencoded.png">    </p:cNvPr>
          <p:cNvPicPr>
            <a:picLocks noChangeAspect="1"/>
          </p:cNvPicPr>
          <p:nvPr/>
        </p:nvPicPr>
        <p:blipFill>
          <a:blip r:embed="rId5"/>
          <a:stretch>
            <a:fillRect/>
          </a:stretch>
        </p:blipFill>
        <p:spPr>
          <a:xfrm>
            <a:off x="4572000" y="2523744"/>
            <a:ext cx="274320" cy="274320"/>
          </a:xfrm>
          <a:prstGeom prst="rect">
            <a:avLst/>
          </a:prstGeom>
        </p:spPr>
      </p:pic>
      <p:sp>
        <p:nvSpPr>
          <p:cNvPr id="16" name="Text 9"/>
          <p:cNvSpPr/>
          <p:nvPr/>
        </p:nvSpPr>
        <p:spPr>
          <a:xfrm>
            <a:off x="4956048" y="2505456"/>
            <a:ext cx="3840480" cy="438912"/>
          </a:xfrm>
          <a:prstGeom prst="rect">
            <a:avLst/>
          </a:prstGeom>
          <a:noFill/>
          <a:ln/>
        </p:spPr>
        <p:txBody>
          <a:bodyPr wrap="square" lIns="0" tIns="0" rIns="0" bIns="0" rtlCol="0" anchor="ctr"/>
          <a:lstStyle/>
          <a:p>
            <a:pPr indent="0" marL="0">
              <a:buNone/>
            </a:pPr>
            <a:r>
              <a:rPr lang="en-US" sz="1200" dirty="0">
                <a:solidFill>
                  <a:srgbClr val="8A8AAA"/>
                </a:solidFill>
                <a:latin typeface="Calibri" pitchFamily="34" charset="0"/>
                <a:ea typeface="Calibri" pitchFamily="34" charset="-122"/>
                <a:cs typeface="Calibri" pitchFamily="34" charset="-120"/>
              </a:rPr>
              <a:t>The fix is technical, not impossible: recalibration and inclusive data</a:t>
            </a:r>
            <a:endParaRPr lang="en-US" sz="1200" dirty="0"/>
          </a:p>
        </p:txBody>
      </p:sp>
      <p:pic>
        <p:nvPicPr>
          <p:cNvPr id="17" name="Image 5" descr="preencoded.png">    </p:cNvPr>
          <p:cNvPicPr>
            <a:picLocks noChangeAspect="1"/>
          </p:cNvPicPr>
          <p:nvPr/>
        </p:nvPicPr>
        <p:blipFill>
          <a:blip r:embed="rId6"/>
          <a:stretch>
            <a:fillRect/>
          </a:stretch>
        </p:blipFill>
        <p:spPr>
          <a:xfrm>
            <a:off x="4572000" y="3090672"/>
            <a:ext cx="274320" cy="274320"/>
          </a:xfrm>
          <a:prstGeom prst="rect">
            <a:avLst/>
          </a:prstGeom>
        </p:spPr>
      </p:pic>
      <p:sp>
        <p:nvSpPr>
          <p:cNvPr id="18" name="Text 10"/>
          <p:cNvSpPr/>
          <p:nvPr/>
        </p:nvSpPr>
        <p:spPr>
          <a:xfrm>
            <a:off x="4956048" y="3072384"/>
            <a:ext cx="3840480" cy="438912"/>
          </a:xfrm>
          <a:prstGeom prst="rect">
            <a:avLst/>
          </a:prstGeom>
          <a:noFill/>
          <a:ln/>
        </p:spPr>
        <p:txBody>
          <a:bodyPr wrap="square" lIns="0" tIns="0" rIns="0" bIns="0" rtlCol="0" anchor="ctr"/>
          <a:lstStyle/>
          <a:p>
            <a:pPr indent="0" marL="0">
              <a:buNone/>
            </a:pPr>
            <a:r>
              <a:rPr lang="en-US" sz="1200" b="1" dirty="0">
                <a:solidFill>
                  <a:srgbClr val="EDE9F8"/>
                </a:solidFill>
                <a:latin typeface="Calibri" pitchFamily="34" charset="0"/>
                <a:ea typeface="Calibri" pitchFamily="34" charset="-122"/>
                <a:cs typeface="Calibri" pitchFamily="34" charset="-120"/>
              </a:rPr>
              <a:t>We need engineers, designers, and advocates who know this story</a:t>
            </a:r>
            <a:endParaRPr lang="en-US" sz="1200" dirty="0"/>
          </a:p>
        </p:txBody>
      </p:sp>
      <p:sp>
        <p:nvSpPr>
          <p:cNvPr id="19" name="Shape 11"/>
          <p:cNvSpPr/>
          <p:nvPr/>
        </p:nvSpPr>
        <p:spPr>
          <a:xfrm>
            <a:off x="4480560" y="3703320"/>
            <a:ext cx="4389120" cy="1097280"/>
          </a:xfrm>
          <a:prstGeom prst="rect">
            <a:avLst/>
          </a:prstGeom>
          <a:solidFill>
            <a:srgbClr val="FF6B6B">
              <a:alpha val="12000"/>
            </a:srgbClr>
          </a:solidFill>
          <a:ln w="19050">
            <a:solidFill>
              <a:srgbClr val="FF6B6B"/>
            </a:solidFill>
            <a:prstDash val="solid"/>
          </a:ln>
        </p:spPr>
      </p:sp>
      <p:sp>
        <p:nvSpPr>
          <p:cNvPr id="20" name="Text 12"/>
          <p:cNvSpPr/>
          <p:nvPr/>
        </p:nvSpPr>
        <p:spPr>
          <a:xfrm>
            <a:off x="4663440" y="3794760"/>
            <a:ext cx="4023360" cy="292608"/>
          </a:xfrm>
          <a:prstGeom prst="rect">
            <a:avLst/>
          </a:prstGeom>
          <a:noFill/>
          <a:ln/>
        </p:spPr>
        <p:txBody>
          <a:bodyPr wrap="square" rtlCol="0" anchor="ctr"/>
          <a:lstStyle/>
          <a:p>
            <a:pPr indent="0" marL="0">
              <a:buNone/>
            </a:pPr>
            <a:r>
              <a:rPr lang="en-US" sz="1100" b="1" spc="100" kern="0" dirty="0">
                <a:solidFill>
                  <a:srgbClr val="FF6B6B"/>
                </a:solidFill>
                <a:latin typeface="Calibri" pitchFamily="34" charset="0"/>
                <a:ea typeface="Calibri" pitchFamily="34" charset="-122"/>
                <a:cs typeface="Calibri" pitchFamily="34" charset="-120"/>
              </a:rPr>
              <a:t>Try the simulation:</a:t>
            </a:r>
            <a:endParaRPr lang="en-US" sz="1100" dirty="0"/>
          </a:p>
        </p:txBody>
      </p:sp>
      <p:sp>
        <p:nvSpPr>
          <p:cNvPr id="21" name="Text 13"/>
          <p:cNvSpPr/>
          <p:nvPr/>
        </p:nvSpPr>
        <p:spPr>
          <a:xfrm>
            <a:off x="4663440" y="4096512"/>
            <a:ext cx="4023360" cy="640080"/>
          </a:xfrm>
          <a:prstGeom prst="rect">
            <a:avLst/>
          </a:prstGeom>
          <a:noFill/>
          <a:ln/>
        </p:spPr>
        <p:txBody>
          <a:bodyPr wrap="square" rtlCol="0" anchor="ctr"/>
          <a:lstStyle/>
          <a:p>
            <a:pPr indent="0" marL="0">
              <a:buNone/>
            </a:pPr>
            <a:r>
              <a:rPr lang="en-US" sz="1300" i="1" dirty="0">
                <a:solidFill>
                  <a:srgbClr val="EDE9F8"/>
                </a:solidFill>
                <a:latin typeface="Georgia" pitchFamily="34" charset="0"/>
                <a:ea typeface="Georgia" pitchFamily="34" charset="-122"/>
                <a:cs typeface="Georgia" pitchFamily="34" charset="-120"/>
              </a:rPr>
              <a:t>Open the-pill-problem.html</a:t>
            </a:r>
            <a:endParaRPr lang="en-US" sz="1300" dirty="0"/>
          </a:p>
          <a:p>
            <a:pPr indent="0" marL="0">
              <a:buNone/>
            </a:pPr>
            <a:r>
              <a:rPr lang="en-US" sz="1300" i="1" dirty="0">
                <a:solidFill>
                  <a:srgbClr val="EDE9F8"/>
                </a:solidFill>
                <a:latin typeface="Georgia" pitchFamily="34" charset="0"/>
                <a:ea typeface="Georgia" pitchFamily="34" charset="-122"/>
                <a:cs typeface="Georgia" pitchFamily="34" charset="-120"/>
              </a:rPr>
              <a:t>Recalibrate. Save three lives.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Pill Problem — Women's Day Presentation</dc:title>
  <dc:subject>PptxGenJS Presentation</dc:subject>
  <dc:creator>Women's Day 2025</dc:creator>
  <cp:lastModifiedBy>Women's Day 2025</cp:lastModifiedBy>
  <cp:revision>1</cp:revision>
  <dcterms:created xsi:type="dcterms:W3CDTF">2026-03-05T10:09:09Z</dcterms:created>
  <dcterms:modified xsi:type="dcterms:W3CDTF">2026-03-05T10:09:09Z</dcterms:modified>
</cp:coreProperties>
</file>